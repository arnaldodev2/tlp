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8" r:id="rId4"/>
  </p:sldMasterIdLst>
  <p:notesMasterIdLst>
    <p:notesMasterId r:id="rId11"/>
  </p:notesMasterIdLst>
  <p:handoutMasterIdLst>
    <p:handoutMasterId r:id="rId12"/>
  </p:handoutMasterIdLst>
  <p:sldIdLst>
    <p:sldId id="425" r:id="rId5"/>
    <p:sldId id="427" r:id="rId6"/>
    <p:sldId id="426" r:id="rId7"/>
    <p:sldId id="428" r:id="rId8"/>
    <p:sldId id="430" r:id="rId9"/>
    <p:sldId id="43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CC"/>
    <a:srgbClr val="0066FF"/>
    <a:srgbClr val="3366FF"/>
    <a:srgbClr val="3399FF"/>
    <a:srgbClr val="FF9900"/>
    <a:srgbClr val="003300"/>
    <a:srgbClr val="FFCC99"/>
    <a:srgbClr val="FF9966"/>
    <a:srgbClr val="FAA260"/>
    <a:srgbClr val="009ED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E73B76-BC09-E9CE-1273-3131147374F4}" v="5" dt="2024-01-16T15:46:05.670"/>
  </p1510:revLst>
</p1510:revInfo>
</file>

<file path=ppt/tableStyles.xml><?xml version="1.0" encoding="utf-8"?>
<a:tblStyleLst xmlns:a="http://schemas.openxmlformats.org/drawingml/2006/main" def="{5C22544A-7EE6-4342-B048-85BDC9FD1C3A}"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Estilo Claro 2 - Destaqu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Estilo Claro 3 - Destaqu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957" autoAdjust="0"/>
  </p:normalViewPr>
  <p:slideViewPr>
    <p:cSldViewPr>
      <p:cViewPr varScale="1">
        <p:scale>
          <a:sx n="71" d="100"/>
          <a:sy n="71" d="100"/>
        </p:scale>
        <p:origin x="51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4" d="100"/>
        <a:sy n="154" d="100"/>
      </p:scale>
      <p:origin x="0" y="13128"/>
    </p:cViewPr>
  </p:sorterViewPr>
  <p:notesViewPr>
    <p:cSldViewPr>
      <p:cViewPr varScale="1">
        <p:scale>
          <a:sx n="83" d="100"/>
          <a:sy n="83" d="100"/>
        </p:scale>
        <p:origin x="-3144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pt-PT" sz="1200"/>
            </a:lvl1pPr>
          </a:lstStyle>
          <a:p>
            <a:endParaRPr lang="pt-PT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pt-PT" sz="1200"/>
            </a:lvl1pPr>
          </a:lstStyle>
          <a:p>
            <a:fld id="{D83FDC75-7F73-4A4A-A77C-09AADF00E0EA}" type="datetimeFigureOut">
              <a:rPr lang="pt-PT" smtClean="0"/>
              <a:pPr/>
              <a:t>04/10/2026</a:t>
            </a:fld>
            <a:endParaRPr lang="pt-PT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pt-PT" sz="1200"/>
            </a:lvl1pPr>
          </a:lstStyle>
          <a:p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pt-PT" sz="1200"/>
            </a:lvl1pPr>
          </a:lstStyle>
          <a:p>
            <a:fld id="{459226BF-1F13-42D3-80DC-373E7ADD1EBC}" type="slidenum">
              <a:rPr lang="pt-PT" smtClean="0"/>
              <a:pPr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742816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pt-PT"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pt-PT" sz="1200"/>
            </a:lvl1pPr>
          </a:lstStyle>
          <a:p>
            <a:fld id="{48AEF76B-3757-4A0B-AF93-28494465C1DD}" type="datetimeFigureOut">
              <a:pPr/>
              <a:t>04/10/2026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pt-PT"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pt-PT" sz="1200"/>
            </a:lvl1pPr>
          </a:lstStyle>
          <a:p>
            <a:fld id="{75693FD4-8F83-4EF7-AC3F-0DC0388986B0}" type="slidenum"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7414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321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132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094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691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341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06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96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785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944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093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126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809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9" r:id="rId1"/>
    <p:sldLayoutId id="2147484060" r:id="rId2"/>
    <p:sldLayoutId id="2147484061" r:id="rId3"/>
    <p:sldLayoutId id="2147484062" r:id="rId4"/>
    <p:sldLayoutId id="2147484063" r:id="rId5"/>
    <p:sldLayoutId id="2147484064" r:id="rId6"/>
    <p:sldLayoutId id="2147484065" r:id="rId7"/>
    <p:sldLayoutId id="2147484066" r:id="rId8"/>
    <p:sldLayoutId id="2147484067" r:id="rId9"/>
    <p:sldLayoutId id="2147484068" r:id="rId10"/>
    <p:sldLayoutId id="214748406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50D5C698-D3FF-79AB-5A8C-07F5A24F09C3}"/>
              </a:ext>
            </a:extLst>
          </p:cNvPr>
          <p:cNvSpPr>
            <a:spLocks noGrp="1"/>
          </p:cNvSpPr>
          <p:nvPr/>
        </p:nvSpPr>
        <p:spPr>
          <a:xfrm>
            <a:off x="782723" y="809898"/>
            <a:ext cx="7457037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CDC5EE2E-B52B-D5BE-9AF5-77ACEBFD4680}"/>
              </a:ext>
            </a:extLst>
          </p:cNvPr>
          <p:cNvSpPr>
            <a:spLocks noGrp="1"/>
          </p:cNvSpPr>
          <p:nvPr/>
        </p:nvSpPr>
        <p:spPr>
          <a:xfrm>
            <a:off x="783771" y="3017522"/>
            <a:ext cx="745598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Curso profissional de Técnico Desenvolvimento de Software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Clara Ferreira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m 7">
            <a:extLst>
              <a:ext uri="{FF2B5EF4-FFF2-40B4-BE49-F238E27FC236}">
                <a16:creationId xmlns:a16="http://schemas.microsoft.com/office/drawing/2014/main" id="{63427BE9-92B4-950E-FEA2-CBC6900F84C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795" y="5922883"/>
            <a:ext cx="3269141" cy="54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353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0" name="Rectangle 259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7" name="Rectangle 26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20387E-494B-4F6B-B3DC-06D877598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>
                <a:latin typeface="+mj-lt"/>
                <a:ea typeface="+mj-ea"/>
                <a:cs typeface="+mj-cs"/>
              </a:rPr>
              <a:t>Operadores Lógicos</a:t>
            </a:r>
          </a:p>
        </p:txBody>
      </p: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2942D543-845E-04C7-9120-B3822CE255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555815"/>
              </p:ext>
            </p:extLst>
          </p:nvPr>
        </p:nvGraphicFramePr>
        <p:xfrm>
          <a:off x="1346246" y="3017519"/>
          <a:ext cx="6448240" cy="3209903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  <a:tableStyleId>{5C22544A-7EE6-4342-B048-85BDC9FD1C3A}</a:tableStyleId>
              </a:tblPr>
              <a:tblGrid>
                <a:gridCol w="3645509">
                  <a:extLst>
                    <a:ext uri="{9D8B030D-6E8A-4147-A177-3AD203B41FA5}">
                      <a16:colId xmlns:a16="http://schemas.microsoft.com/office/drawing/2014/main" val="433384382"/>
                    </a:ext>
                  </a:extLst>
                </a:gridCol>
                <a:gridCol w="2802731">
                  <a:extLst>
                    <a:ext uri="{9D8B030D-6E8A-4147-A177-3AD203B41FA5}">
                      <a16:colId xmlns:a16="http://schemas.microsoft.com/office/drawing/2014/main" val="998552687"/>
                    </a:ext>
                  </a:extLst>
                </a:gridCol>
              </a:tblGrid>
              <a:tr h="840266">
                <a:tc>
                  <a:txBody>
                    <a:bodyPr/>
                    <a:lstStyle/>
                    <a:p>
                      <a:r>
                        <a:rPr lang="pt-PT" sz="2900" b="0" cap="none" spc="0">
                          <a:solidFill>
                            <a:schemeClr val="bg1"/>
                          </a:solidFill>
                        </a:rPr>
                        <a:t>Operador</a:t>
                      </a:r>
                    </a:p>
                  </a:txBody>
                  <a:tcPr marL="338445" marR="338445" marT="194045" marB="16922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2900" b="0" cap="none" spc="0">
                          <a:solidFill>
                            <a:schemeClr val="bg1"/>
                          </a:solidFill>
                        </a:rPr>
                        <a:t>Nome</a:t>
                      </a:r>
                    </a:p>
                  </a:txBody>
                  <a:tcPr marL="338445" marR="338445" marT="194045" marB="16922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018166"/>
                  </a:ext>
                </a:extLst>
              </a:tr>
              <a:tr h="789879">
                <a:tc>
                  <a:txBody>
                    <a:bodyPr/>
                    <a:lstStyle/>
                    <a:p>
                      <a:r>
                        <a:rPr lang="pt-PT" sz="2500" cap="none" spc="0">
                          <a:solidFill>
                            <a:schemeClr val="tx1"/>
                          </a:solidFill>
                        </a:rPr>
                        <a:t>&amp;&amp;</a:t>
                      </a:r>
                    </a:p>
                  </a:txBody>
                  <a:tcPr marL="338445" marR="338445" marT="194045" marB="16922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2500" cap="none" spc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L="338445" marR="338445" marT="194045" marB="16922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351584"/>
                  </a:ext>
                </a:extLst>
              </a:tr>
              <a:tr h="789879">
                <a:tc>
                  <a:txBody>
                    <a:bodyPr/>
                    <a:lstStyle/>
                    <a:p>
                      <a:r>
                        <a:rPr lang="pt-PT" sz="2500" cap="none" spc="0">
                          <a:solidFill>
                            <a:schemeClr val="tx1"/>
                          </a:solidFill>
                        </a:rPr>
                        <a:t>||</a:t>
                      </a:r>
                    </a:p>
                  </a:txBody>
                  <a:tcPr marL="338445" marR="338445" marT="194045" marB="16922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2500" cap="none" spc="0">
                          <a:solidFill>
                            <a:schemeClr val="tx1"/>
                          </a:solidFill>
                        </a:rPr>
                        <a:t>Ou</a:t>
                      </a:r>
                    </a:p>
                  </a:txBody>
                  <a:tcPr marL="338445" marR="338445" marT="194045" marB="16922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306211"/>
                  </a:ext>
                </a:extLst>
              </a:tr>
              <a:tr h="789879">
                <a:tc>
                  <a:txBody>
                    <a:bodyPr/>
                    <a:lstStyle/>
                    <a:p>
                      <a:r>
                        <a:rPr lang="pt-PT" sz="2500" cap="none" spc="0">
                          <a:solidFill>
                            <a:schemeClr val="tx1"/>
                          </a:solidFill>
                        </a:rPr>
                        <a:t>!</a:t>
                      </a:r>
                    </a:p>
                  </a:txBody>
                  <a:tcPr marL="338445" marR="338445" marT="194045" marB="16922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2500" cap="none" spc="0">
                          <a:solidFill>
                            <a:schemeClr val="tx1"/>
                          </a:solidFill>
                        </a:rPr>
                        <a:t>Não</a:t>
                      </a:r>
                    </a:p>
                  </a:txBody>
                  <a:tcPr marL="338445" marR="338445" marT="194045" marB="16922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516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1576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5" name="Rectangle 234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96EBA6-E05D-38D2-0010-35ED9A4BA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>
                <a:latin typeface="+mj-lt"/>
                <a:ea typeface="+mj-ea"/>
                <a:cs typeface="+mj-cs"/>
              </a:rPr>
              <a:t>Operadores Relacionais</a:t>
            </a: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7EA366EF-A320-45F3-F2C6-8510ECD4AC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6750169"/>
              </p:ext>
            </p:extLst>
          </p:nvPr>
        </p:nvGraphicFramePr>
        <p:xfrm>
          <a:off x="1497946" y="3017519"/>
          <a:ext cx="6144840" cy="3209902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622284">
                  <a:extLst>
                    <a:ext uri="{9D8B030D-6E8A-4147-A177-3AD203B41FA5}">
                      <a16:colId xmlns:a16="http://schemas.microsoft.com/office/drawing/2014/main" val="1516779199"/>
                    </a:ext>
                  </a:extLst>
                </a:gridCol>
                <a:gridCol w="3522556">
                  <a:extLst>
                    <a:ext uri="{9D8B030D-6E8A-4147-A177-3AD203B41FA5}">
                      <a16:colId xmlns:a16="http://schemas.microsoft.com/office/drawing/2014/main" val="2462594292"/>
                    </a:ext>
                  </a:extLst>
                </a:gridCol>
              </a:tblGrid>
              <a:tr h="488278">
                <a:tc>
                  <a:txBody>
                    <a:bodyPr/>
                    <a:lstStyle/>
                    <a:p>
                      <a:r>
                        <a:rPr lang="pt-PT" sz="1600" b="1" cap="none" spc="0">
                          <a:solidFill>
                            <a:schemeClr val="bg1"/>
                          </a:solidFill>
                        </a:rPr>
                        <a:t>Operador</a:t>
                      </a:r>
                    </a:p>
                  </a:txBody>
                  <a:tcPr marL="73317" marR="52369" marT="104738" marB="10473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600" b="1" cap="none" spc="0">
                          <a:solidFill>
                            <a:schemeClr val="bg1"/>
                          </a:solidFill>
                        </a:rPr>
                        <a:t>Nome</a:t>
                      </a:r>
                    </a:p>
                  </a:txBody>
                  <a:tcPr marL="73317" marR="52369" marT="104738" marB="10473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307129"/>
                  </a:ext>
                </a:extLst>
              </a:tr>
              <a:tr h="453604">
                <a:tc>
                  <a:txBody>
                    <a:bodyPr/>
                    <a:lstStyle/>
                    <a:p>
                      <a:r>
                        <a:rPr lang="pt-PT" sz="1300" cap="none" spc="0">
                          <a:solidFill>
                            <a:schemeClr val="tx1"/>
                          </a:solidFill>
                        </a:rPr>
                        <a:t>==</a:t>
                      </a:r>
                    </a:p>
                  </a:txBody>
                  <a:tcPr marL="73317" marR="52369" marT="104064" marB="10473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300" cap="none" spc="0">
                          <a:solidFill>
                            <a:schemeClr val="tx1"/>
                          </a:solidFill>
                        </a:rPr>
                        <a:t>É igual</a:t>
                      </a:r>
                    </a:p>
                  </a:txBody>
                  <a:tcPr marL="73317" marR="52369" marT="104064" marB="10473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127566"/>
                  </a:ext>
                </a:extLst>
              </a:tr>
              <a:tr h="453604">
                <a:tc>
                  <a:txBody>
                    <a:bodyPr/>
                    <a:lstStyle/>
                    <a:p>
                      <a:r>
                        <a:rPr lang="pt-PT" sz="1300" cap="none" spc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</a:txBody>
                  <a:tcPr marL="73317" marR="52369" marT="104064" marB="10473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300" cap="none" spc="0">
                          <a:solidFill>
                            <a:schemeClr val="tx1"/>
                          </a:solidFill>
                        </a:rPr>
                        <a:t>É maior</a:t>
                      </a:r>
                    </a:p>
                  </a:txBody>
                  <a:tcPr marL="73317" marR="52369" marT="104064" marB="10473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402933"/>
                  </a:ext>
                </a:extLst>
              </a:tr>
              <a:tr h="453604">
                <a:tc>
                  <a:txBody>
                    <a:bodyPr/>
                    <a:lstStyle/>
                    <a:p>
                      <a:r>
                        <a:rPr lang="pt-PT" sz="1300" cap="none" spc="0">
                          <a:solidFill>
                            <a:schemeClr val="tx1"/>
                          </a:solidFill>
                        </a:rPr>
                        <a:t>&lt;</a:t>
                      </a:r>
                    </a:p>
                  </a:txBody>
                  <a:tcPr marL="73317" marR="52369" marT="104064" marB="10473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300" cap="none" spc="0">
                          <a:solidFill>
                            <a:schemeClr val="tx1"/>
                          </a:solidFill>
                        </a:rPr>
                        <a:t>É menor</a:t>
                      </a:r>
                    </a:p>
                  </a:txBody>
                  <a:tcPr marL="73317" marR="52369" marT="104064" marB="10473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840237"/>
                  </a:ext>
                </a:extLst>
              </a:tr>
              <a:tr h="453604">
                <a:tc>
                  <a:txBody>
                    <a:bodyPr/>
                    <a:lstStyle/>
                    <a:p>
                      <a:r>
                        <a:rPr lang="pt-PT" sz="1300" cap="none" spc="0">
                          <a:solidFill>
                            <a:schemeClr val="tx1"/>
                          </a:solidFill>
                        </a:rPr>
                        <a:t>&lt;=</a:t>
                      </a:r>
                    </a:p>
                  </a:txBody>
                  <a:tcPr marL="73317" marR="52369" marT="104064" marB="10473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300" cap="none" spc="0">
                          <a:solidFill>
                            <a:schemeClr val="tx1"/>
                          </a:solidFill>
                        </a:rPr>
                        <a:t>É menor ou igual</a:t>
                      </a:r>
                    </a:p>
                  </a:txBody>
                  <a:tcPr marL="73317" marR="52369" marT="104064" marB="10473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648231"/>
                  </a:ext>
                </a:extLst>
              </a:tr>
              <a:tr h="453604">
                <a:tc>
                  <a:txBody>
                    <a:bodyPr/>
                    <a:lstStyle/>
                    <a:p>
                      <a:r>
                        <a:rPr lang="pt-PT" sz="1300" cap="none" spc="0">
                          <a:solidFill>
                            <a:schemeClr val="tx1"/>
                          </a:solidFill>
                        </a:rPr>
                        <a:t>&gt;=</a:t>
                      </a:r>
                    </a:p>
                  </a:txBody>
                  <a:tcPr marL="73317" marR="52369" marT="104064" marB="10473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300" cap="none" spc="0">
                          <a:solidFill>
                            <a:schemeClr val="tx1"/>
                          </a:solidFill>
                        </a:rPr>
                        <a:t>É maior ou igual</a:t>
                      </a:r>
                    </a:p>
                  </a:txBody>
                  <a:tcPr marL="73317" marR="52369" marT="104064" marB="10473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855511"/>
                  </a:ext>
                </a:extLst>
              </a:tr>
              <a:tr h="453604">
                <a:tc>
                  <a:txBody>
                    <a:bodyPr/>
                    <a:lstStyle/>
                    <a:p>
                      <a:r>
                        <a:rPr lang="pt-PT" sz="1300" cap="none" spc="0">
                          <a:solidFill>
                            <a:schemeClr val="tx1"/>
                          </a:solidFill>
                        </a:rPr>
                        <a:t>!=</a:t>
                      </a:r>
                    </a:p>
                  </a:txBody>
                  <a:tcPr marL="73317" marR="52369" marT="104064" marB="10473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300" cap="none" spc="0">
                          <a:solidFill>
                            <a:schemeClr val="tx1"/>
                          </a:solidFill>
                        </a:rPr>
                        <a:t>É diferente</a:t>
                      </a:r>
                    </a:p>
                  </a:txBody>
                  <a:tcPr marL="73317" marR="52369" marT="104064" marB="10473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190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28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5" name="Rectangle 244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2" name="Rectangle 25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5744F2-C0DB-6F6F-0141-94DF0FCCE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>
                <a:latin typeface="+mj-lt"/>
                <a:ea typeface="+mj-ea"/>
                <a:cs typeface="+mj-cs"/>
              </a:rPr>
              <a:t>Tipos de Dados no C</a:t>
            </a:r>
          </a:p>
        </p:txBody>
      </p: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7F2D68A9-3A88-D5AD-1143-B7BDAF363C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9004252"/>
              </p:ext>
            </p:extLst>
          </p:nvPr>
        </p:nvGraphicFramePr>
        <p:xfrm>
          <a:off x="678451" y="3236273"/>
          <a:ext cx="7783832" cy="277239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843175">
                  <a:extLst>
                    <a:ext uri="{9D8B030D-6E8A-4147-A177-3AD203B41FA5}">
                      <a16:colId xmlns:a16="http://schemas.microsoft.com/office/drawing/2014/main" val="3917162721"/>
                    </a:ext>
                  </a:extLst>
                </a:gridCol>
                <a:gridCol w="4296151">
                  <a:extLst>
                    <a:ext uri="{9D8B030D-6E8A-4147-A177-3AD203B41FA5}">
                      <a16:colId xmlns:a16="http://schemas.microsoft.com/office/drawing/2014/main" val="1412800818"/>
                    </a:ext>
                  </a:extLst>
                </a:gridCol>
                <a:gridCol w="2644506">
                  <a:extLst>
                    <a:ext uri="{9D8B030D-6E8A-4147-A177-3AD203B41FA5}">
                      <a16:colId xmlns:a16="http://schemas.microsoft.com/office/drawing/2014/main" val="1374840218"/>
                    </a:ext>
                  </a:extLst>
                </a:gridCol>
              </a:tblGrid>
              <a:tr h="337896">
                <a:tc>
                  <a:txBody>
                    <a:bodyPr/>
                    <a:lstStyle/>
                    <a:p>
                      <a:pPr algn="ctr" fontAlgn="base"/>
                      <a:r>
                        <a:rPr lang="pt-PT" sz="1300">
                          <a:solidFill>
                            <a:schemeClr val="bg1"/>
                          </a:solidFill>
                          <a:effectLst/>
                        </a:rPr>
                        <a:t>Tipo</a:t>
                      </a:r>
                    </a:p>
                  </a:txBody>
                  <a:tcPr marL="93619" marR="34484" marT="46810" marB="4681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PT" sz="1300">
                          <a:solidFill>
                            <a:schemeClr val="bg1"/>
                          </a:solidFill>
                          <a:effectLst/>
                        </a:rPr>
                        <a:t>Descrição</a:t>
                      </a:r>
                    </a:p>
                  </a:txBody>
                  <a:tcPr marL="93619" marR="34484" marT="46810" marB="4681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PT" sz="1300">
                          <a:solidFill>
                            <a:schemeClr val="bg1"/>
                          </a:solidFill>
                          <a:effectLst/>
                        </a:rPr>
                        <a:t>Valores usuais</a:t>
                      </a:r>
                      <a:endParaRPr lang="pt-PT" sz="2000"/>
                    </a:p>
                  </a:txBody>
                  <a:tcPr marL="93619" marR="34484" marT="46810" marB="46810" anchor="ctr"/>
                </a:tc>
                <a:extLst>
                  <a:ext uri="{0D108BD9-81ED-4DB2-BD59-A6C34878D82A}">
                    <a16:rowId xmlns:a16="http://schemas.microsoft.com/office/drawing/2014/main" val="1149907980"/>
                  </a:ext>
                </a:extLst>
              </a:tr>
              <a:tr h="337896">
                <a:tc>
                  <a:txBody>
                    <a:bodyPr/>
                    <a:lstStyle/>
                    <a:p>
                      <a:pPr fontAlgn="base"/>
                      <a:r>
                        <a:rPr lang="pt-PT" sz="1300">
                          <a:solidFill>
                            <a:srgbClr val="404040"/>
                          </a:solidFill>
                          <a:effectLst/>
                        </a:rPr>
                        <a:t>int</a:t>
                      </a:r>
                      <a:endParaRPr lang="pt-PT" sz="1300" err="1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L="93619" marR="34484" marT="46810" marB="4681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pt-PT" sz="1300">
                          <a:solidFill>
                            <a:srgbClr val="404040"/>
                          </a:solidFill>
                          <a:effectLst/>
                        </a:rPr>
                        <a:t>Inteiro de 32 bits (no Visual Studio)</a:t>
                      </a:r>
                      <a:endParaRPr lang="pt-PT" sz="2000"/>
                    </a:p>
                  </a:txBody>
                  <a:tcPr marL="93619" marR="34484" marT="46810" marB="4681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PT" sz="1300">
                          <a:solidFill>
                            <a:srgbClr val="404040"/>
                          </a:solidFill>
                          <a:effectLst/>
                        </a:rPr>
                        <a:t>−2.147.483.648 a 2.147.483.647</a:t>
                      </a:r>
                      <a:endParaRPr lang="pt-PT" sz="2000"/>
                    </a:p>
                  </a:txBody>
                  <a:tcPr marL="93619" marR="34484" marT="46810" marB="46810" anchor="ctr"/>
                </a:tc>
                <a:extLst>
                  <a:ext uri="{0D108BD9-81ED-4DB2-BD59-A6C34878D82A}">
                    <a16:rowId xmlns:a16="http://schemas.microsoft.com/office/drawing/2014/main" val="1969491174"/>
                  </a:ext>
                </a:extLst>
              </a:tr>
              <a:tr h="541459">
                <a:tc>
                  <a:txBody>
                    <a:bodyPr/>
                    <a:lstStyle/>
                    <a:p>
                      <a:pPr fontAlgn="base"/>
                      <a:r>
                        <a:rPr lang="pt-PT" sz="1300">
                          <a:solidFill>
                            <a:srgbClr val="404040"/>
                          </a:solidFill>
                          <a:effectLst/>
                        </a:rPr>
                        <a:t>float</a:t>
                      </a:r>
                      <a:endParaRPr lang="pt-PT" sz="1300" err="1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L="93619" marR="34484" marT="46810" marB="4681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pt-PT" sz="1300">
                          <a:solidFill>
                            <a:srgbClr val="404040"/>
                          </a:solidFill>
                          <a:effectLst/>
                        </a:rPr>
                        <a:t>Real, cerca de 6–7 dígitos de precisão</a:t>
                      </a:r>
                      <a:endParaRPr lang="pt-PT" sz="2000"/>
                    </a:p>
                  </a:txBody>
                  <a:tcPr marL="93619" marR="34484" marT="46810" marB="4681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PT" sz="1300">
                          <a:solidFill>
                            <a:srgbClr val="404040"/>
                          </a:solidFill>
                          <a:effectLst/>
                        </a:rPr>
                        <a:t>Magnitude até cerca de 3,4 × 10³⁸</a:t>
                      </a:r>
                      <a:endParaRPr lang="pt-PT" sz="2000"/>
                    </a:p>
                  </a:txBody>
                  <a:tcPr marL="93619" marR="34484" marT="46810" marB="46810" anchor="ctr"/>
                </a:tc>
                <a:extLst>
                  <a:ext uri="{0D108BD9-81ED-4DB2-BD59-A6C34878D82A}">
                    <a16:rowId xmlns:a16="http://schemas.microsoft.com/office/drawing/2014/main" val="3173167952"/>
                  </a:ext>
                </a:extLst>
              </a:tr>
              <a:tr h="541459">
                <a:tc>
                  <a:txBody>
                    <a:bodyPr/>
                    <a:lstStyle/>
                    <a:p>
                      <a:pPr fontAlgn="base"/>
                      <a:r>
                        <a:rPr lang="pt-PT" sz="1300">
                          <a:solidFill>
                            <a:srgbClr val="404040"/>
                          </a:solidFill>
                          <a:effectLst/>
                        </a:rPr>
                        <a:t>double</a:t>
                      </a:r>
                      <a:endParaRPr lang="pt-PT" sz="1300" err="1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L="93619" marR="34484" marT="46810" marB="4681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pt-PT" sz="1300">
                          <a:solidFill>
                            <a:srgbClr val="404040"/>
                          </a:solidFill>
                          <a:effectLst/>
                        </a:rPr>
                        <a:t>Real, cerca de 15–16 dígitos de precisão</a:t>
                      </a:r>
                      <a:endParaRPr lang="pt-PT" sz="2000"/>
                    </a:p>
                  </a:txBody>
                  <a:tcPr marL="93619" marR="34484" marT="46810" marB="4681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PT" sz="1300">
                          <a:solidFill>
                            <a:srgbClr val="404040"/>
                          </a:solidFill>
                          <a:effectLst/>
                        </a:rPr>
                        <a:t>Magnitude até cerca de 1,7 × 10³⁰⁸</a:t>
                      </a:r>
                      <a:endParaRPr lang="pt-PT" sz="2000"/>
                    </a:p>
                  </a:txBody>
                  <a:tcPr marL="93619" marR="34484" marT="46810" marB="46810" anchor="ctr"/>
                </a:tc>
                <a:extLst>
                  <a:ext uri="{0D108BD9-81ED-4DB2-BD59-A6C34878D82A}">
                    <a16:rowId xmlns:a16="http://schemas.microsoft.com/office/drawing/2014/main" val="321905237"/>
                  </a:ext>
                </a:extLst>
              </a:tr>
              <a:tr h="337896">
                <a:tc>
                  <a:txBody>
                    <a:bodyPr/>
                    <a:lstStyle/>
                    <a:p>
                      <a:pPr fontAlgn="base"/>
                      <a:r>
                        <a:rPr lang="pt-PT" sz="1300">
                          <a:solidFill>
                            <a:srgbClr val="404040"/>
                          </a:solidFill>
                          <a:effectLst/>
                        </a:rPr>
                        <a:t>char</a:t>
                      </a:r>
                      <a:endParaRPr lang="pt-PT" sz="1300" err="1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L="93619" marR="34484" marT="46810" marB="4681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pt-PT" sz="1300">
                          <a:solidFill>
                            <a:srgbClr val="404040"/>
                          </a:solidFill>
                          <a:effectLst/>
                        </a:rPr>
                        <a:t>Um carácter (ou pequeno inteiro)</a:t>
                      </a:r>
                      <a:endParaRPr lang="pt-PT" sz="2000"/>
                    </a:p>
                  </a:txBody>
                  <a:tcPr marL="93619" marR="34484" marT="46810" marB="4681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PT" sz="1300">
                          <a:solidFill>
                            <a:srgbClr val="404040"/>
                          </a:solidFill>
                          <a:effectLst/>
                        </a:rPr>
                        <a:t>Exemplos: 'A', '7', '?' </a:t>
                      </a:r>
                      <a:endParaRPr lang="pt-PT" sz="2000"/>
                    </a:p>
                  </a:txBody>
                  <a:tcPr marL="93619" marR="34484" marT="46810" marB="46810" anchor="ctr"/>
                </a:tc>
                <a:extLst>
                  <a:ext uri="{0D108BD9-81ED-4DB2-BD59-A6C34878D82A}">
                    <a16:rowId xmlns:a16="http://schemas.microsoft.com/office/drawing/2014/main" val="3534307312"/>
                  </a:ext>
                </a:extLst>
              </a:tr>
              <a:tr h="337896">
                <a:tc>
                  <a:txBody>
                    <a:bodyPr/>
                    <a:lstStyle/>
                    <a:p>
                      <a:pPr fontAlgn="base"/>
                      <a:r>
                        <a:rPr lang="pt-PT" sz="1300">
                          <a:solidFill>
                            <a:srgbClr val="404040"/>
                          </a:solidFill>
                          <a:effectLst/>
                        </a:rPr>
                        <a:t>bool</a:t>
                      </a:r>
                      <a:endParaRPr lang="pt-PT" sz="1300" err="1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L="93619" marR="34484" marT="46810" marB="4681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pt-PT" sz="1300">
                          <a:solidFill>
                            <a:srgbClr val="404040"/>
                          </a:solidFill>
                          <a:effectLst/>
                        </a:rPr>
                        <a:t>Lógico: incluir &lt;stdbool.h&gt; (C99/C17)</a:t>
                      </a:r>
                      <a:endParaRPr lang="pt-PT" sz="2000"/>
                    </a:p>
                  </a:txBody>
                  <a:tcPr marL="93619" marR="34484" marT="46810" marB="4681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PT" sz="1300">
                          <a:solidFill>
                            <a:srgbClr val="404040"/>
                          </a:solidFill>
                          <a:effectLst/>
                        </a:rPr>
                        <a:t>true (1) ou false (0)</a:t>
                      </a:r>
                      <a:endParaRPr lang="pt-PT" sz="2000"/>
                    </a:p>
                  </a:txBody>
                  <a:tcPr marL="93619" marR="34484" marT="46810" marB="46810" anchor="ctr"/>
                </a:tc>
                <a:extLst>
                  <a:ext uri="{0D108BD9-81ED-4DB2-BD59-A6C34878D82A}">
                    <a16:rowId xmlns:a16="http://schemas.microsoft.com/office/drawing/2014/main" val="2427475143"/>
                  </a:ext>
                </a:extLst>
              </a:tr>
              <a:tr h="337896">
                <a:tc>
                  <a:txBody>
                    <a:bodyPr/>
                    <a:lstStyle/>
                    <a:p>
                      <a:pPr fontAlgn="base"/>
                      <a:r>
                        <a:rPr lang="pt-PT" sz="1300">
                          <a:solidFill>
                            <a:srgbClr val="404040"/>
                          </a:solidFill>
                          <a:effectLst/>
                        </a:rPr>
                        <a:t>void</a:t>
                      </a:r>
                      <a:endParaRPr lang="pt-PT" sz="1300" err="1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L="93619" marR="34484" marT="46810" marB="4681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pt-PT" sz="1300">
                          <a:solidFill>
                            <a:srgbClr val="404040"/>
                          </a:solidFill>
                          <a:effectLst/>
                        </a:rPr>
                        <a:t>Sem valor de retorno, em funções</a:t>
                      </a:r>
                      <a:endParaRPr lang="pt-PT" sz="2000"/>
                    </a:p>
                  </a:txBody>
                  <a:tcPr marL="93619" marR="34484" marT="46810" marB="4681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PT" sz="1300">
                          <a:solidFill>
                            <a:srgbClr val="404040"/>
                          </a:solidFill>
                          <a:effectLst/>
                        </a:rPr>
                        <a:t>–</a:t>
                      </a:r>
                    </a:p>
                  </a:txBody>
                  <a:tcPr marL="93619" marR="34484" marT="46810" marB="46810" anchor="ctr"/>
                </a:tc>
                <a:extLst>
                  <a:ext uri="{0D108BD9-81ED-4DB2-BD59-A6C34878D82A}">
                    <a16:rowId xmlns:a16="http://schemas.microsoft.com/office/drawing/2014/main" val="2409498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5529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5F4E6C-6A16-274F-A220-E79BC49B6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pt-PT" sz="4700">
                <a:cs typeface="Calibri Light"/>
              </a:rPr>
              <a:t>if / else</a:t>
            </a:r>
            <a:endParaRPr lang="pt-PT" sz="47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6D33B5D-6AB3-44A2-1FF9-9745A6ACE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pt-PT" sz="2100">
                <a:cs typeface="Consolas"/>
              </a:rPr>
              <a:t>if (condicao)</a:t>
            </a:r>
            <a:endParaRPr lang="pt-PT" sz="2100"/>
          </a:p>
          <a:p>
            <a:pPr marL="0" indent="0">
              <a:buNone/>
            </a:pPr>
            <a:r>
              <a:rPr lang="pt-PT" sz="2100">
                <a:cs typeface="Consolas"/>
              </a:rPr>
              <a:t>{</a:t>
            </a:r>
            <a:endParaRPr lang="pt-PT" sz="2100"/>
          </a:p>
          <a:p>
            <a:pPr marL="0" indent="0">
              <a:buNone/>
            </a:pPr>
            <a:r>
              <a:rPr lang="pt-PT" sz="2100">
                <a:cs typeface="Consolas"/>
              </a:rPr>
              <a:t>    // Se for verdadeira</a:t>
            </a:r>
            <a:endParaRPr lang="pt-PT" sz="2100"/>
          </a:p>
          <a:p>
            <a:pPr marL="0" indent="0">
              <a:buNone/>
            </a:pPr>
            <a:r>
              <a:rPr lang="pt-PT" sz="2100">
                <a:cs typeface="Consolas"/>
              </a:rPr>
              <a:t>}</a:t>
            </a:r>
            <a:endParaRPr lang="pt-PT" sz="2100"/>
          </a:p>
          <a:p>
            <a:pPr marL="0" indent="0">
              <a:buNone/>
            </a:pPr>
            <a:r>
              <a:rPr lang="pt-PT" sz="2100">
                <a:cs typeface="Consolas"/>
              </a:rPr>
              <a:t>else</a:t>
            </a:r>
            <a:endParaRPr lang="pt-PT" sz="2100"/>
          </a:p>
          <a:p>
            <a:pPr marL="0" indent="0">
              <a:buNone/>
            </a:pPr>
            <a:r>
              <a:rPr lang="pt-PT" sz="2100">
                <a:cs typeface="Consolas"/>
              </a:rPr>
              <a:t>{</a:t>
            </a:r>
            <a:endParaRPr lang="pt-PT" sz="2100"/>
          </a:p>
          <a:p>
            <a:pPr marL="0" indent="0">
              <a:buNone/>
            </a:pPr>
            <a:r>
              <a:rPr lang="pt-PT" sz="2100">
                <a:cs typeface="Consolas"/>
              </a:rPr>
              <a:t>    // Se for falsa</a:t>
            </a:r>
            <a:endParaRPr lang="pt-PT" sz="2100"/>
          </a:p>
          <a:p>
            <a:pPr marL="0" indent="0">
              <a:buNone/>
            </a:pPr>
            <a:r>
              <a:rPr lang="pt-PT" sz="2100">
                <a:cs typeface="Consolas"/>
              </a:rPr>
              <a:t>}</a:t>
            </a:r>
            <a:endParaRPr lang="pt-PT" sz="2100"/>
          </a:p>
        </p:txBody>
      </p:sp>
    </p:spTree>
    <p:extLst>
      <p:ext uri="{BB962C8B-B14F-4D97-AF65-F5344CB8AC3E}">
        <p14:creationId xmlns:p14="http://schemas.microsoft.com/office/powerpoint/2010/main" val="1516579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E08196-A5BC-09A7-3816-40D1E7654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pt-PT" sz="4700">
                <a:cs typeface="Calibri Light"/>
              </a:rPr>
              <a:t>Números aleatórios</a:t>
            </a:r>
            <a:endParaRPr lang="pt-PT" sz="47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A7E020B-9E96-7811-C7A9-A01566FA5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pt-PT" sz="1400" dirty="0">
                <a:cs typeface="Consolas"/>
              </a:rPr>
              <a:t>// Gera um inteiro de 1 a 20.</a:t>
            </a:r>
            <a:endParaRPr lang="pt-PT" sz="1400" dirty="0"/>
          </a:p>
          <a:p>
            <a:pPr marL="0" indent="0">
              <a:buNone/>
            </a:pPr>
            <a:r>
              <a:rPr lang="pt-PT" sz="1400" dirty="0">
                <a:cs typeface="Consolas"/>
              </a:rPr>
              <a:t>#include &lt;</a:t>
            </a:r>
            <a:r>
              <a:rPr lang="pt-PT" sz="1400" dirty="0" err="1">
                <a:cs typeface="Consolas"/>
              </a:rPr>
              <a:t>stdio.h</a:t>
            </a:r>
            <a:r>
              <a:rPr lang="pt-PT" sz="1400" dirty="0">
                <a:cs typeface="Consolas"/>
              </a:rPr>
              <a:t>&gt;</a:t>
            </a:r>
            <a:endParaRPr lang="pt-PT" sz="1400" dirty="0"/>
          </a:p>
          <a:p>
            <a:pPr marL="0" indent="0">
              <a:buNone/>
            </a:pPr>
            <a:r>
              <a:rPr lang="pt-PT" sz="1400" dirty="0">
                <a:cs typeface="Consolas"/>
              </a:rPr>
              <a:t>#include &lt;</a:t>
            </a:r>
            <a:r>
              <a:rPr lang="pt-PT" sz="1400" dirty="0" err="1">
                <a:cs typeface="Consolas"/>
              </a:rPr>
              <a:t>stdlib.h</a:t>
            </a:r>
            <a:r>
              <a:rPr lang="pt-PT" sz="1400" dirty="0">
                <a:cs typeface="Consolas"/>
              </a:rPr>
              <a:t>&gt;</a:t>
            </a:r>
            <a:endParaRPr lang="pt-PT" sz="1400" dirty="0"/>
          </a:p>
          <a:p>
            <a:pPr marL="0" indent="0">
              <a:buNone/>
            </a:pPr>
            <a:r>
              <a:rPr lang="pt-PT" sz="1400" dirty="0">
                <a:cs typeface="Consolas"/>
              </a:rPr>
              <a:t>#include &lt;</a:t>
            </a:r>
            <a:r>
              <a:rPr lang="pt-PT" sz="1400" dirty="0" err="1">
                <a:cs typeface="Consolas"/>
              </a:rPr>
              <a:t>time.h</a:t>
            </a:r>
            <a:r>
              <a:rPr lang="pt-PT" sz="1400" dirty="0">
                <a:cs typeface="Consolas"/>
              </a:rPr>
              <a:t>&gt;</a:t>
            </a:r>
            <a:endParaRPr lang="pt-PT" sz="1400" dirty="0"/>
          </a:p>
          <a:p>
            <a:pPr marL="0" indent="0">
              <a:buNone/>
            </a:pPr>
            <a:endParaRPr lang="pt-PT" sz="1400" dirty="0"/>
          </a:p>
          <a:p>
            <a:pPr marL="0" indent="0">
              <a:buNone/>
            </a:pPr>
            <a:r>
              <a:rPr lang="pt-PT" sz="1400" dirty="0" err="1">
                <a:cs typeface="Consolas"/>
              </a:rPr>
              <a:t>int</a:t>
            </a:r>
            <a:r>
              <a:rPr lang="pt-PT" sz="1400" dirty="0">
                <a:cs typeface="Consolas"/>
              </a:rPr>
              <a:t> </a:t>
            </a:r>
            <a:r>
              <a:rPr lang="pt-PT" sz="1400" dirty="0" err="1">
                <a:cs typeface="Consolas"/>
              </a:rPr>
              <a:t>main</a:t>
            </a:r>
            <a:r>
              <a:rPr lang="pt-PT" sz="1400" dirty="0">
                <a:cs typeface="Consolas"/>
              </a:rPr>
              <a:t>(</a:t>
            </a:r>
            <a:r>
              <a:rPr lang="pt-PT" sz="1400" dirty="0" err="1">
                <a:cs typeface="Consolas"/>
              </a:rPr>
              <a:t>void</a:t>
            </a:r>
            <a:r>
              <a:rPr lang="pt-PT" sz="1400" dirty="0">
                <a:cs typeface="Consolas"/>
              </a:rPr>
              <a:t>)</a:t>
            </a:r>
            <a:endParaRPr lang="pt-PT" sz="1400" dirty="0"/>
          </a:p>
          <a:p>
            <a:pPr marL="0" indent="0">
              <a:buNone/>
            </a:pPr>
            <a:r>
              <a:rPr lang="pt-PT" sz="1400" dirty="0">
                <a:cs typeface="Consolas"/>
              </a:rPr>
              <a:t>{</a:t>
            </a:r>
            <a:endParaRPr lang="pt-PT" sz="1400" dirty="0"/>
          </a:p>
          <a:p>
            <a:pPr marL="0" indent="0">
              <a:buNone/>
            </a:pPr>
            <a:r>
              <a:rPr lang="pt-PT" sz="1400" dirty="0">
                <a:cs typeface="Consolas"/>
              </a:rPr>
              <a:t>    </a:t>
            </a:r>
            <a:r>
              <a:rPr lang="pt-PT" sz="1400" dirty="0" err="1">
                <a:cs typeface="Consolas"/>
              </a:rPr>
              <a:t>srand</a:t>
            </a:r>
            <a:r>
              <a:rPr lang="pt-PT" sz="1400" dirty="0">
                <a:cs typeface="Consolas"/>
              </a:rPr>
              <a:t>((</a:t>
            </a:r>
            <a:r>
              <a:rPr lang="pt-PT" sz="1400" dirty="0" err="1">
                <a:cs typeface="Consolas"/>
              </a:rPr>
              <a:t>unsigned</a:t>
            </a:r>
            <a:r>
              <a:rPr lang="pt-PT" sz="1400" dirty="0">
                <a:cs typeface="Consolas"/>
              </a:rPr>
              <a:t> </a:t>
            </a:r>
            <a:r>
              <a:rPr lang="pt-PT" sz="1400" dirty="0" err="1">
                <a:cs typeface="Consolas"/>
              </a:rPr>
              <a:t>int</a:t>
            </a:r>
            <a:r>
              <a:rPr lang="pt-PT" sz="1400" dirty="0">
                <a:cs typeface="Consolas"/>
              </a:rPr>
              <a:t>)time(NULL));</a:t>
            </a:r>
            <a:endParaRPr lang="pt-PT" sz="1400" dirty="0"/>
          </a:p>
          <a:p>
            <a:pPr marL="0" indent="0">
              <a:buNone/>
            </a:pPr>
            <a:r>
              <a:rPr lang="pt-PT" sz="1400" dirty="0">
                <a:cs typeface="Consolas"/>
              </a:rPr>
              <a:t>    </a:t>
            </a:r>
            <a:r>
              <a:rPr lang="pt-PT" sz="1400" dirty="0" err="1">
                <a:cs typeface="Consolas"/>
              </a:rPr>
              <a:t>int</a:t>
            </a:r>
            <a:r>
              <a:rPr lang="pt-PT" sz="1400" dirty="0">
                <a:cs typeface="Consolas"/>
              </a:rPr>
              <a:t> x = rand() % 20 + 1;</a:t>
            </a:r>
            <a:endParaRPr lang="pt-PT" sz="1400" dirty="0"/>
          </a:p>
          <a:p>
            <a:pPr marL="0" indent="0">
              <a:buNone/>
            </a:pPr>
            <a:r>
              <a:rPr lang="pt-PT" sz="1400" dirty="0">
                <a:cs typeface="Consolas"/>
              </a:rPr>
              <a:t>    </a:t>
            </a:r>
            <a:r>
              <a:rPr lang="pt-PT" sz="1400" dirty="0" err="1">
                <a:cs typeface="Consolas"/>
              </a:rPr>
              <a:t>printf</a:t>
            </a:r>
            <a:r>
              <a:rPr lang="pt-PT" sz="1400" dirty="0">
                <a:cs typeface="Consolas"/>
              </a:rPr>
              <a:t>("%d\n", x);</a:t>
            </a:r>
            <a:endParaRPr lang="pt-PT" sz="1400" dirty="0"/>
          </a:p>
          <a:p>
            <a:pPr marL="0" indent="0">
              <a:buNone/>
            </a:pPr>
            <a:r>
              <a:rPr lang="pt-PT" sz="1400" dirty="0">
                <a:cs typeface="Consolas"/>
              </a:rPr>
              <a:t>    </a:t>
            </a:r>
            <a:r>
              <a:rPr lang="pt-PT" sz="1400" dirty="0" err="1">
                <a:cs typeface="Consolas"/>
              </a:rPr>
              <a:t>return</a:t>
            </a:r>
            <a:r>
              <a:rPr lang="pt-PT" sz="1400" dirty="0">
                <a:cs typeface="Consolas"/>
              </a:rPr>
              <a:t> 0;</a:t>
            </a:r>
            <a:endParaRPr lang="pt-PT" sz="1400" dirty="0"/>
          </a:p>
          <a:p>
            <a:pPr marL="0" indent="0">
              <a:buNone/>
            </a:pPr>
            <a:r>
              <a:rPr lang="pt-PT" sz="1400" dirty="0">
                <a:cs typeface="Consolas"/>
              </a:rPr>
              <a:t>}</a:t>
            </a:r>
            <a:endParaRPr lang="pt-PT" sz="1400" dirty="0"/>
          </a:p>
        </p:txBody>
      </p:sp>
    </p:spTree>
    <p:extLst>
      <p:ext uri="{BB962C8B-B14F-4D97-AF65-F5344CB8AC3E}">
        <p14:creationId xmlns:p14="http://schemas.microsoft.com/office/powerpoint/2010/main" val="1459842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A1838B29BE400418F64012B09F26F25" ma:contentTypeVersion="3" ma:contentTypeDescription="Criar um novo documento." ma:contentTypeScope="" ma:versionID="3ac07e79369edef41cfbd4fd28f59b6b">
  <xsd:schema xmlns:xsd="http://www.w3.org/2001/XMLSchema" xmlns:xs="http://www.w3.org/2001/XMLSchema" xmlns:p="http://schemas.microsoft.com/office/2006/metadata/properties" xmlns:ns2="173d77ef-034d-4373-8d2e-474a77ea109d" targetNamespace="http://schemas.microsoft.com/office/2006/metadata/properties" ma:root="true" ma:fieldsID="cf9cf6ea52323ab86580d65a994018f2" ns2:_="">
    <xsd:import namespace="173d77ef-034d-4373-8d2e-474a77ea10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3d77ef-034d-4373-8d2e-474a77ea10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7011608-903E-4C5A-BE7B-B56E0103613E}"/>
</file>

<file path=customXml/itemProps2.xml><?xml version="1.0" encoding="utf-8"?>
<ds:datastoreItem xmlns:ds="http://schemas.openxmlformats.org/officeDocument/2006/customXml" ds:itemID="{BBE814C6-B57E-48B0-81B0-8D87EF3CA4C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50629A-60DB-4860-944F-9623DF57E63A}">
  <ds:schemaRefs>
    <ds:schemaRef ds:uri="http://schemas.microsoft.com/office/2006/metadata/properties"/>
    <ds:schemaRef ds:uri="http://schemas.microsoft.com/office/infopath/2007/PartnerControls"/>
    <ds:schemaRef ds:uri="a00e5186-3ee1-4f03-a7d6-66b69971da24"/>
    <ds:schemaRef ds:uri="f40a1378-073b-4b98-b63d-f4c0e38f763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</TotalTime>
  <Words>245</Words>
  <Application>Microsoft Office PowerPoint</Application>
  <PresentationFormat>Apresentação no Ecrã (4:3)</PresentationFormat>
  <Paragraphs>71</Paragraphs>
  <Slides>6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Office Theme</vt:lpstr>
      <vt:lpstr>Apresentação do PowerPoint</vt:lpstr>
      <vt:lpstr>Operadores Lógicos</vt:lpstr>
      <vt:lpstr>Operadores Relacionais</vt:lpstr>
      <vt:lpstr>Tipos de Dados no C</vt:lpstr>
      <vt:lpstr>if / else</vt:lpstr>
      <vt:lpstr>Números aleatórios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>Clara Maria Jesus Marques Ventura Ferreira</cp:lastModifiedBy>
  <cp:revision>195</cp:revision>
  <dcterms:created xsi:type="dcterms:W3CDTF">2016-10-28T15:18:04Z</dcterms:created>
  <dcterms:modified xsi:type="dcterms:W3CDTF">2026-10-04T18:08:12Z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0x010100EA1838B29BE400418F64012B09F26F25</vt:lpwstr>
  </property>
  <property fmtid="{D5CDD505-2E9C-101B-9397-08002B2CF9AE}" pid="3" name="MediaServiceImageTags">
    <vt:lpwstr/>
  </property>
</Properties>
</file>