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8" r:id="rId4"/>
  </p:sldMasterIdLst>
  <p:notesMasterIdLst>
    <p:notesMasterId r:id="rId16"/>
  </p:notesMasterIdLst>
  <p:handoutMasterIdLst>
    <p:handoutMasterId r:id="rId17"/>
  </p:handoutMasterIdLst>
  <p:sldIdLst>
    <p:sldId id="425" r:id="rId5"/>
    <p:sldId id="426" r:id="rId6"/>
    <p:sldId id="427" r:id="rId7"/>
    <p:sldId id="428" r:id="rId8"/>
    <p:sldId id="430" r:id="rId9"/>
    <p:sldId id="432" r:id="rId10"/>
    <p:sldId id="429" r:id="rId11"/>
    <p:sldId id="433" r:id="rId12"/>
    <p:sldId id="431" r:id="rId13"/>
    <p:sldId id="434" r:id="rId14"/>
    <p:sldId id="43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CC"/>
    <a:srgbClr val="0066FF"/>
    <a:srgbClr val="3366FF"/>
    <a:srgbClr val="3399FF"/>
    <a:srgbClr val="FF9900"/>
    <a:srgbClr val="003300"/>
    <a:srgbClr val="FFCC99"/>
    <a:srgbClr val="FF9966"/>
    <a:srgbClr val="FAA260"/>
    <a:srgbClr val="009ED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" dt="2026-10-07T10:02:46.258"/>
    <p1510:client id="{50C8B849-29DE-6E9D-C861-22BF70B3029B}" v="587" dt="2026-10-07T10:02:00.203"/>
    <p1510:client id="{C4BFE37B-4F95-EB9B-AE86-13773B33B6C1}" v="10" dt="2026-10-07T11:46:52.360"/>
  </p1510:revLst>
</p1510:revInfo>
</file>

<file path=ppt/tableStyles.xml><?xml version="1.0" encoding="utf-8"?>
<a:tblStyleLst xmlns:a="http://schemas.openxmlformats.org/drawingml/2006/main" def="{5C22544A-7EE6-4342-B048-85BDC9FD1C3A}"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com Tema 1 - Destaqu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Estilo Médio 1 - Destaqu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75DCB02-9BB8-47FD-8907-85C794F793BA}" styleName="Estilo com Tema 1 - Destaqu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59" autoAdjust="0"/>
    <p:restoredTop sz="94957" autoAdjust="0"/>
  </p:normalViewPr>
  <p:slideViewPr>
    <p:cSldViewPr>
      <p:cViewPr varScale="1">
        <p:scale>
          <a:sx n="80" d="100"/>
          <a:sy n="80" d="100"/>
        </p:scale>
        <p:origin x="151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4" d="100"/>
        <a:sy n="154" d="100"/>
      </p:scale>
      <p:origin x="0" y="13128"/>
    </p:cViewPr>
  </p:sorterViewPr>
  <p:notesViewPr>
    <p:cSldViewPr>
      <p:cViewPr varScale="1">
        <p:scale>
          <a:sx n="83" d="100"/>
          <a:sy n="83" d="100"/>
        </p:scale>
        <p:origin x="-3144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ra Maria Ferreira" userId="S::clara.ferreira@ae-ginestalmachado.pt::0636389c-ff33-46cc-b19e-1fe4ab6f5cb6" providerId="AD" clId="Web-{00000000-0000-0000-0000-000000000000}"/>
    <pc:docChg chg="modSld">
      <pc:chgData name="Clara Maria Ferreira" userId="S::clara.ferreira@ae-ginestalmachado.pt::0636389c-ff33-46cc-b19e-1fe4ab6f5cb6" providerId="AD" clId="Web-{00000000-0000-0000-0000-000000000000}" dt="2026-10-07T10:02:46.258" v="4" actId="20577"/>
      <pc:docMkLst>
        <pc:docMk/>
      </pc:docMkLst>
      <pc:sldChg chg="modSp">
        <pc:chgData name="Clara Maria Ferreira" userId="S::clara.ferreira@ae-ginestalmachado.pt::0636389c-ff33-46cc-b19e-1fe4ab6f5cb6" providerId="AD" clId="Web-{00000000-0000-0000-0000-000000000000}" dt="2026-10-07T10:02:46.258" v="4" actId="20577"/>
        <pc:sldMkLst>
          <pc:docMk/>
          <pc:sldMk cId="3698398552" sldId="435"/>
        </pc:sldMkLst>
        <pc:spChg chg="mod">
          <ac:chgData name="Clara Maria Ferreira" userId="S::clara.ferreira@ae-ginestalmachado.pt::0636389c-ff33-46cc-b19e-1fe4ab6f5cb6" providerId="AD" clId="Web-{00000000-0000-0000-0000-000000000000}" dt="2026-10-07T10:02:46.258" v="4" actId="20577"/>
          <ac:spMkLst>
            <pc:docMk/>
            <pc:sldMk cId="3698398552" sldId="435"/>
            <ac:spMk id="3" creationId="{1D5D9F5F-A37A-10B8-6DA6-288B843C7A90}"/>
          </ac:spMkLst>
        </pc:spChg>
      </pc:sldChg>
    </pc:docChg>
  </pc:docChgLst>
  <pc:docChgLst>
    <pc:chgData name="Clara Maria Ferreira" userId="S::clara.ferreira@ae-ginestalmachado.pt::0636389c-ff33-46cc-b19e-1fe4ab6f5cb6" providerId="AD" clId="Web-{C4BFE37B-4F95-EB9B-AE86-13773B33B6C1}"/>
    <pc:docChg chg="modSld sldOrd">
      <pc:chgData name="Clara Maria Ferreira" userId="S::clara.ferreira@ae-ginestalmachado.pt::0636389c-ff33-46cc-b19e-1fe4ab6f5cb6" providerId="AD" clId="Web-{C4BFE37B-4F95-EB9B-AE86-13773B33B6C1}" dt="2026-10-07T11:46:52.360" v="8" actId="20577"/>
      <pc:docMkLst>
        <pc:docMk/>
      </pc:docMkLst>
      <pc:sldChg chg="modSp">
        <pc:chgData name="Clara Maria Ferreira" userId="S::clara.ferreira@ae-ginestalmachado.pt::0636389c-ff33-46cc-b19e-1fe4ab6f5cb6" providerId="AD" clId="Web-{C4BFE37B-4F95-EB9B-AE86-13773B33B6C1}" dt="2026-10-07T11:04:13.797" v="5" actId="14100"/>
        <pc:sldMkLst>
          <pc:docMk/>
          <pc:sldMk cId="2823886259" sldId="429"/>
        </pc:sldMkLst>
        <pc:spChg chg="mod">
          <ac:chgData name="Clara Maria Ferreira" userId="S::clara.ferreira@ae-ginestalmachado.pt::0636389c-ff33-46cc-b19e-1fe4ab6f5cb6" providerId="AD" clId="Web-{C4BFE37B-4F95-EB9B-AE86-13773B33B6C1}" dt="2026-10-07T11:04:13.797" v="5" actId="14100"/>
          <ac:spMkLst>
            <pc:docMk/>
            <pc:sldMk cId="2823886259" sldId="429"/>
            <ac:spMk id="2" creationId="{120D0B5D-F176-0B43-2E3F-04EC84B2B5FF}"/>
          </ac:spMkLst>
        </pc:spChg>
      </pc:sldChg>
      <pc:sldChg chg="modSp">
        <pc:chgData name="Clara Maria Ferreira" userId="S::clara.ferreira@ae-ginestalmachado.pt::0636389c-ff33-46cc-b19e-1fe4ab6f5cb6" providerId="AD" clId="Web-{C4BFE37B-4F95-EB9B-AE86-13773B33B6C1}" dt="2026-10-07T11:03:38.999" v="1" actId="20577"/>
        <pc:sldMkLst>
          <pc:docMk/>
          <pc:sldMk cId="4010441836" sldId="430"/>
        </pc:sldMkLst>
        <pc:spChg chg="mod">
          <ac:chgData name="Clara Maria Ferreira" userId="S::clara.ferreira@ae-ginestalmachado.pt::0636389c-ff33-46cc-b19e-1fe4ab6f5cb6" providerId="AD" clId="Web-{C4BFE37B-4F95-EB9B-AE86-13773B33B6C1}" dt="2026-10-07T11:03:38.999" v="1" actId="20577"/>
          <ac:spMkLst>
            <pc:docMk/>
            <pc:sldMk cId="4010441836" sldId="430"/>
            <ac:spMk id="10" creationId="{82A764C1-D5E0-0D6E-6BA2-263D77A9A116}"/>
          </ac:spMkLst>
        </pc:spChg>
      </pc:sldChg>
      <pc:sldChg chg="modSp">
        <pc:chgData name="Clara Maria Ferreira" userId="S::clara.ferreira@ae-ginestalmachado.pt::0636389c-ff33-46cc-b19e-1fe4ab6f5cb6" providerId="AD" clId="Web-{C4BFE37B-4F95-EB9B-AE86-13773B33B6C1}" dt="2026-10-07T11:46:52.360" v="8" actId="20577"/>
        <pc:sldMkLst>
          <pc:docMk/>
          <pc:sldMk cId="4035288088" sldId="431"/>
        </pc:sldMkLst>
        <pc:spChg chg="mod">
          <ac:chgData name="Clara Maria Ferreira" userId="S::clara.ferreira@ae-ginestalmachado.pt::0636389c-ff33-46cc-b19e-1fe4ab6f5cb6" providerId="AD" clId="Web-{C4BFE37B-4F95-EB9B-AE86-13773B33B6C1}" dt="2026-10-07T11:46:52.360" v="8" actId="20577"/>
          <ac:spMkLst>
            <pc:docMk/>
            <pc:sldMk cId="4035288088" sldId="431"/>
            <ac:spMk id="3" creationId="{F038E267-F7F0-9C79-1853-AECF08C901A8}"/>
          </ac:spMkLst>
        </pc:spChg>
      </pc:sldChg>
      <pc:sldChg chg="ord">
        <pc:chgData name="Clara Maria Ferreira" userId="S::clara.ferreira@ae-ginestalmachado.pt::0636389c-ff33-46cc-b19e-1fe4ab6f5cb6" providerId="AD" clId="Web-{C4BFE37B-4F95-EB9B-AE86-13773B33B6C1}" dt="2026-10-07T11:06:48.553" v="6"/>
        <pc:sldMkLst>
          <pc:docMk/>
          <pc:sldMk cId="2682176581" sldId="43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pt-PT" sz="1200"/>
            </a:lvl1pPr>
          </a:lstStyle>
          <a:p>
            <a:endParaRPr lang="pt-PT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pt-PT" sz="1200"/>
            </a:lvl1pPr>
          </a:lstStyle>
          <a:p>
            <a:fld id="{D83FDC75-7F73-4A4A-A77C-09AADF00E0EA}" type="datetimeFigureOut">
              <a:rPr lang="pt-PT" smtClean="0"/>
              <a:pPr/>
              <a:t>07/10/2026</a:t>
            </a:fld>
            <a:endParaRPr lang="pt-PT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pt-PT" sz="1200"/>
            </a:lvl1pPr>
          </a:lstStyle>
          <a:p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pt-PT" sz="1200"/>
            </a:lvl1pPr>
          </a:lstStyle>
          <a:p>
            <a:fld id="{459226BF-1F13-42D3-80DC-373E7ADD1EBC}" type="slidenum">
              <a:rPr lang="pt-PT" smtClean="0"/>
              <a:pPr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742816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pt-PT"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pt-PT" sz="1200"/>
            </a:lvl1pPr>
          </a:lstStyle>
          <a:p>
            <a:fld id="{48AEF76B-3757-4A0B-AF93-28494465C1DD}" type="datetimeFigureOut">
              <a:pPr/>
              <a:t>07/10/2026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pt-PT"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pt-PT" sz="1200"/>
            </a:lvl1pPr>
          </a:lstStyle>
          <a:p>
            <a:fld id="{75693FD4-8F83-4EF7-AC3F-0DC0388986B0}" type="slidenum"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7414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321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132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094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691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341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063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96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785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944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093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126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809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9" r:id="rId1"/>
    <p:sldLayoutId id="2147484060" r:id="rId2"/>
    <p:sldLayoutId id="2147484061" r:id="rId3"/>
    <p:sldLayoutId id="2147484062" r:id="rId4"/>
    <p:sldLayoutId id="2147484063" r:id="rId5"/>
    <p:sldLayoutId id="2147484064" r:id="rId6"/>
    <p:sldLayoutId id="2147484065" r:id="rId7"/>
    <p:sldLayoutId id="2147484066" r:id="rId8"/>
    <p:sldLayoutId id="2147484067" r:id="rId9"/>
    <p:sldLayoutId id="2147484068" r:id="rId10"/>
    <p:sldLayoutId id="214748406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8B8BDAB-7E5D-D83B-E9E4-50C4AE714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" y="1383528"/>
            <a:ext cx="4444491" cy="3167510"/>
          </a:xfrm>
        </p:spPr>
        <p:txBody>
          <a:bodyPr anchor="b">
            <a:normAutofit/>
          </a:bodyPr>
          <a:lstStyle/>
          <a:p>
            <a:pPr algn="r"/>
            <a:r>
              <a:rPr lang="pt-PT" sz="8400"/>
              <a:t>C</a:t>
            </a: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CDC5EE2E-B52B-D5BE-9AF5-77ACEBFD4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4582814"/>
            <a:ext cx="4444491" cy="1312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pt-PT"/>
              <a:t>Curso profissional de técnico de desenvolvimento de software</a:t>
            </a:r>
            <a:endParaRPr lang="pt-PT">
              <a:ea typeface="Calibri"/>
              <a:cs typeface="Calibri"/>
            </a:endParaRPr>
          </a:p>
          <a:p>
            <a:pPr algn="r"/>
            <a:r>
              <a:rPr lang="pt-PT"/>
              <a:t>Clara Ferreira</a:t>
            </a:r>
            <a:endParaRPr lang="pt-PT">
              <a:ea typeface="Calibri"/>
              <a:cs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B61EE3A-B10F-A640-62D4-D31080F0D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741" y="990041"/>
            <a:ext cx="4376519" cy="72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353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3BEA9C-3544-816F-9751-86E3F408F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pt-PT" sz="5800">
                <a:latin typeface="Cascadia Mono" panose="020B0609020000020004" pitchFamily="49" charset="0"/>
              </a:rPr>
              <a:t>#include &lt;stdio.h&gt;</a:t>
            </a:r>
            <a:endParaRPr lang="pt-PT" sz="580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6D71EC7-1B54-F910-D253-128257CFF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>
            <a:normAutofit/>
          </a:bodyPr>
          <a:lstStyle/>
          <a:p>
            <a:r>
              <a:rPr lang="pt-PT" sz="2100"/>
              <a:t>Inclui a biblioteca de entrada e saída padrão de C.</a:t>
            </a:r>
            <a:endParaRPr sz="2100"/>
          </a:p>
          <a:p>
            <a:r>
              <a:rPr lang="pt-PT" sz="2100"/>
              <a:t>Permite usar printf para escrever e scanf para ler dados.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2475140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5AC5E6-F189-6EB2-91F0-133B6F60A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pt-PT" sz="6300"/>
              <a:t>int main(void)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4DBB972-AA0C-2B05-9A57-A8575FA40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PT" sz="1600" dirty="0"/>
              <a:t>A execução começa na função </a:t>
            </a:r>
            <a:r>
              <a:rPr lang="pt-PT" sz="1600" dirty="0" err="1"/>
              <a:t>main</a:t>
            </a:r>
            <a:r>
              <a:rPr lang="pt-PT" sz="1600" dirty="0"/>
              <a:t>. </a:t>
            </a:r>
            <a:endParaRPr lang="pt-PT" dirty="0"/>
          </a:p>
          <a:p>
            <a:pPr marL="0" indent="0">
              <a:buNone/>
            </a:pPr>
            <a:r>
              <a:rPr lang="pt-PT" sz="1600" dirty="0"/>
              <a:t>Em C, </a:t>
            </a:r>
            <a:r>
              <a:rPr lang="pt-PT" sz="1600" dirty="0" err="1"/>
              <a:t>main</a:t>
            </a:r>
            <a:r>
              <a:rPr lang="pt-PT" sz="1600" dirty="0"/>
              <a:t> devolve um valor inteiro.</a:t>
            </a:r>
            <a:endParaRPr lang="pt-PT" dirty="0"/>
          </a:p>
          <a:p>
            <a:pPr marL="0" indent="0">
              <a:buNone/>
            </a:pPr>
            <a:r>
              <a:rPr lang="pt-PT" sz="1600" dirty="0" err="1"/>
              <a:t>int</a:t>
            </a:r>
            <a:r>
              <a:rPr lang="pt-PT" sz="1600" dirty="0"/>
              <a:t> </a:t>
            </a:r>
            <a:r>
              <a:rPr lang="pt-PT" sz="1600" dirty="0" err="1"/>
              <a:t>main</a:t>
            </a:r>
            <a:r>
              <a:rPr lang="pt-PT" sz="1600" dirty="0"/>
              <a:t>(</a:t>
            </a:r>
            <a:r>
              <a:rPr lang="pt-PT" sz="1600" dirty="0" err="1"/>
              <a:t>void</a:t>
            </a:r>
            <a:r>
              <a:rPr lang="pt-PT" sz="1600" dirty="0"/>
              <a:t>)</a:t>
            </a:r>
            <a:endParaRPr lang="pt-PT"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pt-PT" sz="1600" dirty="0"/>
              <a:t>{</a:t>
            </a:r>
            <a:endParaRPr lang="pt-PT"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pt-PT" sz="1600" dirty="0"/>
              <a:t>    </a:t>
            </a:r>
            <a:r>
              <a:rPr lang="pt-PT" sz="1600" dirty="0" err="1"/>
              <a:t>return</a:t>
            </a:r>
            <a:r>
              <a:rPr lang="pt-PT" sz="1600" dirty="0"/>
              <a:t> 0;</a:t>
            </a:r>
            <a:endParaRPr lang="pt-PT"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pt-PT" sz="1600" dirty="0"/>
              <a:t>}</a:t>
            </a:r>
            <a:endParaRPr lang="pt-PT"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pt-PT" sz="1600" dirty="0" err="1"/>
              <a:t>void</a:t>
            </a:r>
            <a:r>
              <a:rPr lang="pt-PT" sz="1600" dirty="0"/>
              <a:t> indica que não recebe argumentos.</a:t>
            </a:r>
            <a:endParaRPr lang="pt-PT"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pt-PT" sz="1600" dirty="0" err="1"/>
              <a:t>return</a:t>
            </a:r>
            <a:r>
              <a:rPr lang="pt-PT" sz="1600" dirty="0"/>
              <a:t> 0 indica que o programa terminou com sucesso.</a:t>
            </a:r>
            <a:endParaRPr lang="pt-PT" sz="1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7579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00D692-BA75-1914-C9F7-287F69C7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6300"/>
              <a:t>printf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E8A3D09-DCB9-CEDA-6A3E-D7DAA3BDD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100"/>
              <a:t>Escreve no ecrã (saída de dados).</a:t>
            </a:r>
          </a:p>
          <a:p>
            <a:pPr marL="0" indent="0">
              <a:buNone/>
            </a:pPr>
            <a:r>
              <a:rPr lang="en-US" sz="2100"/>
              <a:t>printf("Ola!\n");</a:t>
            </a:r>
          </a:p>
          <a:p>
            <a:pPr marL="0" indent="0">
              <a:buNone/>
            </a:pPr>
            <a:r>
              <a:rPr lang="en-US" sz="2100"/>
              <a:t>\n muda de linha.</a:t>
            </a:r>
          </a:p>
        </p:txBody>
      </p:sp>
    </p:spTree>
    <p:extLst>
      <p:ext uri="{BB962C8B-B14F-4D97-AF65-F5344CB8AC3E}">
        <p14:creationId xmlns:p14="http://schemas.microsoft.com/office/powerpoint/2010/main" val="281695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AF17FC-013C-D06C-B098-13483AC48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Usar a língua Portuguesa</a:t>
            </a:r>
          </a:p>
        </p:txBody>
      </p:sp>
      <p:sp>
        <p:nvSpPr>
          <p:cNvPr id="10" name="CaixaDeTexto 3">
            <a:extLst>
              <a:ext uri="{FF2B5EF4-FFF2-40B4-BE49-F238E27FC236}">
                <a16:creationId xmlns:a16="http://schemas.microsoft.com/office/drawing/2014/main" id="{82A764C1-D5E0-0D6E-6BA2-263D77A9A116}"/>
              </a:ext>
            </a:extLst>
          </p:cNvPr>
          <p:cNvSpPr txBox="1"/>
          <p:nvPr/>
        </p:nvSpPr>
        <p:spPr>
          <a:xfrm>
            <a:off x="963930" y="2969469"/>
            <a:ext cx="6056111" cy="2800395"/>
          </a:xfrm>
          <a:prstGeom prst="rect">
            <a:avLst/>
          </a:prstGeom>
        </p:spPr>
        <p:txBody>
          <a:bodyPr rot="0" spcFirstLastPara="0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#include &lt;</a:t>
            </a:r>
            <a:r>
              <a:rPr lang="en-US" sz="2100" dirty="0" err="1"/>
              <a:t>locale.h</a:t>
            </a:r>
            <a:r>
              <a:rPr lang="en-US" sz="2100" dirty="0"/>
              <a:t>&gt;</a:t>
            </a:r>
          </a:p>
          <a:p>
            <a:pPr mar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100"/>
          </a:p>
          <a:p>
            <a:pPr mar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// </a:t>
            </a:r>
            <a:r>
              <a:rPr lang="en-US" sz="2100" dirty="0" err="1"/>
              <a:t>Dentro</a:t>
            </a:r>
            <a:r>
              <a:rPr lang="en-US" sz="2100" dirty="0"/>
              <a:t> de main:</a:t>
            </a:r>
            <a:endParaRPr lang="en-US" sz="2100" dirty="0">
              <a:ea typeface="Calibri"/>
              <a:cs typeface="Calibri"/>
            </a:endParaRPr>
          </a:p>
          <a:p>
            <a:pPr mar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 err="1"/>
              <a:t>setlocale</a:t>
            </a:r>
            <a:r>
              <a:rPr lang="en-US" sz="2100" dirty="0"/>
              <a:t>(LC_ALL, "");</a:t>
            </a:r>
            <a:endParaRPr lang="en-US" sz="21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0441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432DC5-41A1-3A84-9A70-B8E27E545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 err="1">
                <a:latin typeface="+mj-lt"/>
                <a:ea typeface="+mj-ea"/>
                <a:cs typeface="+mj-cs"/>
              </a:rPr>
              <a:t>Tipos</a:t>
            </a:r>
            <a:r>
              <a:rPr lang="en-US" sz="5400" kern="1200" dirty="0">
                <a:latin typeface="+mj-lt"/>
                <a:ea typeface="+mj-ea"/>
                <a:cs typeface="+mj-cs"/>
              </a:rPr>
              <a:t> de dados </a:t>
            </a:r>
            <a:r>
              <a:rPr lang="en-US" sz="5400" dirty="0" err="1"/>
              <a:t>na</a:t>
            </a:r>
            <a:r>
              <a:rPr lang="en-US" sz="5400" dirty="0"/>
              <a:t> </a:t>
            </a:r>
            <a:r>
              <a:rPr lang="en-US" sz="5400" dirty="0" err="1"/>
              <a:t>leitura</a:t>
            </a:r>
            <a:r>
              <a:rPr lang="en-US" sz="5400" dirty="0"/>
              <a:t> e </a:t>
            </a:r>
            <a:r>
              <a:rPr lang="en-US" sz="5400" dirty="0" err="1"/>
              <a:t>escrita</a:t>
            </a:r>
            <a:endParaRPr lang="en-US" sz="5400" kern="1200" dirty="0" err="1">
              <a:latin typeface="+mj-lt"/>
              <a:ea typeface="Calibri Light"/>
              <a:cs typeface="Calibri Light"/>
            </a:endParaRPr>
          </a:p>
        </p:txBody>
      </p:sp>
      <p:graphicFrame>
        <p:nvGraphicFramePr>
          <p:cNvPr id="14" name="Marcador de Posição de Conteúdo 13">
            <a:extLst>
              <a:ext uri="{FF2B5EF4-FFF2-40B4-BE49-F238E27FC236}">
                <a16:creationId xmlns:a16="http://schemas.microsoft.com/office/drawing/2014/main" id="{3F41E8AA-908F-50B8-C8EC-F0B03AB18A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1996370"/>
              </p:ext>
            </p:extLst>
          </p:nvPr>
        </p:nvGraphicFramePr>
        <p:xfrm>
          <a:off x="2285999" y="2840477"/>
          <a:ext cx="4096971" cy="29997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42097">
                  <a:extLst>
                    <a:ext uri="{9D8B030D-6E8A-4147-A177-3AD203B41FA5}">
                      <a16:colId xmlns:a16="http://schemas.microsoft.com/office/drawing/2014/main" val="2512848988"/>
                    </a:ext>
                  </a:extLst>
                </a:gridCol>
                <a:gridCol w="2854874">
                  <a:extLst>
                    <a:ext uri="{9D8B030D-6E8A-4147-A177-3AD203B41FA5}">
                      <a16:colId xmlns:a16="http://schemas.microsoft.com/office/drawing/2014/main" val="3052708353"/>
                    </a:ext>
                  </a:extLst>
                </a:gridCol>
              </a:tblGrid>
              <a:tr h="470704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pt-PT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Formato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152400" marR="762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pt-PT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Tipo de Dados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185403"/>
                  </a:ext>
                </a:extLst>
              </a:tr>
              <a:tr h="558462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pt-P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%d ou %i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pt-PT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int</a:t>
                      </a:r>
                      <a:endParaRPr lang="pt-PT" b="0" i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719861"/>
                  </a:ext>
                </a:extLst>
              </a:tr>
              <a:tr h="558462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pt-P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%f ou %F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pt-PT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float</a:t>
                      </a:r>
                      <a:endParaRPr lang="pt-PT" b="0" i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524351"/>
                  </a:ext>
                </a:extLst>
              </a:tr>
              <a:tr h="470704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pt-P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%</a:t>
                      </a:r>
                      <a:r>
                        <a:rPr lang="pt-PT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lf</a:t>
                      </a:r>
                      <a:endParaRPr lang="pt-PT" b="0" i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pt-PT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double</a:t>
                      </a:r>
                      <a:endParaRPr lang="pt-PT" b="0" i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57480"/>
                  </a:ext>
                </a:extLst>
              </a:tr>
              <a:tr h="470704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pt-P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%c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pt-PT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char</a:t>
                      </a:r>
                      <a:endParaRPr lang="pt-PT" b="0" i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860903"/>
                  </a:ext>
                </a:extLst>
              </a:tr>
              <a:tr h="470704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pt-P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%s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pt-PT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Strings</a:t>
                      </a:r>
                      <a:endParaRPr lang="en-US" b="0" i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892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2176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0D0B5D-F176-0B43-2E3F-04EC84B2B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742" y="1188637"/>
            <a:ext cx="2960841" cy="448072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5700" dirty="0" err="1"/>
              <a:t>Scanf_s</a:t>
            </a:r>
            <a:endParaRPr lang="en-US" sz="5700" dirty="0" err="1">
              <a:ea typeface="Calibri Light"/>
              <a:cs typeface="Calibri Light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117961E-ED7E-32B7-37C5-CCC148B9D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445" y="1712370"/>
            <a:ext cx="4553719" cy="3496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100" dirty="0"/>
              <a:t>Lê um </a:t>
            </a:r>
            <a:r>
              <a:rPr lang="en-US" sz="2100" dirty="0" err="1"/>
              <a:t>inteiro</a:t>
            </a:r>
            <a:r>
              <a:rPr lang="en-US" sz="2100" dirty="0"/>
              <a:t> para a </a:t>
            </a:r>
            <a:r>
              <a:rPr lang="en-US" sz="2100" dirty="0" err="1"/>
              <a:t>variável</a:t>
            </a:r>
            <a:r>
              <a:rPr lang="en-US" sz="2100" dirty="0"/>
              <a:t> </a:t>
            </a:r>
            <a:r>
              <a:rPr lang="en-US" sz="2100" dirty="0" err="1"/>
              <a:t>idade</a:t>
            </a:r>
            <a:r>
              <a:rPr lang="en-US" sz="2100" dirty="0"/>
              <a:t>:</a:t>
            </a:r>
          </a:p>
          <a:p>
            <a:pPr marL="0" indent="0">
              <a:buNone/>
            </a:pPr>
            <a:r>
              <a:rPr lang="en-US" sz="2100" dirty="0" err="1"/>
              <a:t>Scanf_s</a:t>
            </a:r>
            <a:r>
              <a:rPr lang="en-US" sz="2100" dirty="0"/>
              <a:t>("%d", &amp;</a:t>
            </a:r>
            <a:r>
              <a:rPr lang="en-US" sz="2100" dirty="0" err="1"/>
              <a:t>idade</a:t>
            </a:r>
            <a:r>
              <a:rPr lang="en-US" sz="2100" dirty="0"/>
              <a:t>);</a:t>
            </a:r>
            <a:endParaRPr lang="en-US" sz="21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100" dirty="0"/>
              <a:t>%d indica um </a:t>
            </a:r>
            <a:r>
              <a:rPr lang="en-US" sz="2100" dirty="0" err="1"/>
              <a:t>inteiro</a:t>
            </a:r>
            <a:r>
              <a:rPr lang="en-US" sz="2100" dirty="0"/>
              <a:t>. &amp; indica o </a:t>
            </a:r>
            <a:r>
              <a:rPr lang="en-US" sz="2100" dirty="0" err="1"/>
              <a:t>endereço</a:t>
            </a:r>
            <a:r>
              <a:rPr lang="en-US" sz="2100" dirty="0"/>
              <a:t> da </a:t>
            </a:r>
            <a:r>
              <a:rPr lang="en-US" sz="2100" dirty="0" err="1"/>
              <a:t>variável</a:t>
            </a:r>
            <a:r>
              <a:rPr lang="en-US" sz="2100" dirty="0"/>
              <a:t>.</a:t>
            </a:r>
            <a:endParaRPr lang="en-US" sz="21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3886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E2ED6A-6A94-9A7F-0E8B-1B10913E1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9430DAC-5869-C15F-B884-E09729938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C19749B8-223D-B232-5455-B0FE66092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932295-A514-3F31-A61D-D226005E3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B28615-EE9F-1950-039D-C8BBB5838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7067787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 err="1"/>
              <a:t>Escrever</a:t>
            </a:r>
            <a:r>
              <a:rPr lang="en-US" sz="5400" dirty="0"/>
              <a:t> dados </a:t>
            </a:r>
            <a:r>
              <a:rPr lang="en-US" sz="5400" dirty="0" err="1"/>
              <a:t>decimais</a:t>
            </a:r>
            <a:endParaRPr lang="pt-PT" dirty="0" err="1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504CA745-BC9B-3A96-EF93-E89A46310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288" y="2535744"/>
            <a:ext cx="7838062" cy="36995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 dirty="0">
                <a:ea typeface="Calibri"/>
                <a:cs typeface="Calibri"/>
              </a:rPr>
              <a:t>Podemos decidir quantas casas decimais imprimimos.</a:t>
            </a:r>
          </a:p>
          <a:p>
            <a:r>
              <a:rPr lang="pt-PT" dirty="0">
                <a:ea typeface="Calibri"/>
                <a:cs typeface="Calibri"/>
              </a:rPr>
              <a:t>Exemplo:</a:t>
            </a:r>
          </a:p>
          <a:p>
            <a:pPr marL="0" indent="0">
              <a:buNone/>
            </a:pPr>
            <a:r>
              <a:rPr lang="pt-PT" dirty="0">
                <a:ea typeface="+mn-lt"/>
                <a:cs typeface="+mn-lt"/>
              </a:rPr>
              <a:t>    </a:t>
            </a:r>
            <a:r>
              <a:rPr lang="pt-PT" dirty="0" err="1">
                <a:ea typeface="+mn-lt"/>
                <a:cs typeface="+mn-lt"/>
              </a:rPr>
              <a:t>printf</a:t>
            </a:r>
            <a:r>
              <a:rPr lang="pt-PT" dirty="0">
                <a:ea typeface="+mn-lt"/>
                <a:cs typeface="+mn-lt"/>
              </a:rPr>
              <a:t>(" %.4f", valor);</a:t>
            </a:r>
          </a:p>
        </p:txBody>
      </p:sp>
    </p:spTree>
    <p:extLst>
      <p:ext uri="{BB962C8B-B14F-4D97-AF65-F5344CB8AC3E}">
        <p14:creationId xmlns:p14="http://schemas.microsoft.com/office/powerpoint/2010/main" val="88033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FB912C8-3311-125C-F6CA-32282D469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 anchor="t">
            <a:normAutofit/>
          </a:bodyPr>
          <a:lstStyle/>
          <a:p>
            <a:pPr algn="r"/>
            <a:r>
              <a:rPr lang="pt-PT" sz="3100" dirty="0"/>
              <a:t>Resolução do Primeiro Fluxograma em C</a:t>
            </a:r>
            <a:br>
              <a:rPr lang="pt-PT" sz="3100" dirty="0"/>
            </a:br>
            <a:r>
              <a:rPr lang="pt-PT" sz="3100" dirty="0">
                <a:ea typeface="Calibri Light"/>
                <a:cs typeface="Calibri Light"/>
              </a:rPr>
              <a:t>Exercício 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038E267-F7F0-9C79-1853-AECF08C90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445" y="781037"/>
            <a:ext cx="4384386" cy="54546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pt-PT" sz="900">
                <a:ea typeface="+mn-lt"/>
                <a:cs typeface="+mn-lt"/>
              </a:rPr>
              <a:t>#include &lt;stdio.h&gt; </a:t>
            </a:r>
            <a:endParaRPr lang="pt-PT">
              <a:ea typeface="+mn-lt"/>
              <a:cs typeface="+mn-lt"/>
            </a:endParaRPr>
          </a:p>
          <a:p>
            <a:pPr>
              <a:buNone/>
            </a:pPr>
            <a:r>
              <a:rPr lang="pt-PT" sz="900">
                <a:ea typeface="+mn-lt"/>
                <a:cs typeface="+mn-lt"/>
              </a:rPr>
              <a:t>#include &lt;locale.h&gt; </a:t>
            </a:r>
            <a:endParaRPr lang="pt-PT">
              <a:ea typeface="+mn-lt"/>
              <a:cs typeface="+mn-lt"/>
            </a:endParaRPr>
          </a:p>
          <a:p>
            <a:pPr>
              <a:buNone/>
            </a:pPr>
            <a:r>
              <a:rPr lang="pt-PT" sz="900">
                <a:ea typeface="+mn-lt"/>
                <a:cs typeface="+mn-lt"/>
              </a:rPr>
              <a:t>int main(void)</a:t>
            </a:r>
            <a:endParaRPr lang="pt-PT">
              <a:ea typeface="+mn-lt"/>
              <a:cs typeface="+mn-lt"/>
            </a:endParaRPr>
          </a:p>
          <a:p>
            <a:pPr>
              <a:buNone/>
            </a:pPr>
            <a:r>
              <a:rPr lang="pt-PT" sz="900">
                <a:ea typeface="+mn-lt"/>
                <a:cs typeface="+mn-lt"/>
              </a:rPr>
              <a:t>{</a:t>
            </a:r>
            <a:endParaRPr lang="pt-PT">
              <a:ea typeface="+mn-lt"/>
              <a:cs typeface="+mn-lt"/>
            </a:endParaRPr>
          </a:p>
          <a:p>
            <a:pPr>
              <a:buNone/>
            </a:pPr>
            <a:r>
              <a:rPr lang="pt-PT" sz="900">
                <a:ea typeface="+mn-lt"/>
                <a:cs typeface="+mn-lt"/>
              </a:rPr>
              <a:t>    setlocale(LC_ALL, "");</a:t>
            </a:r>
            <a:endParaRPr lang="pt-PT">
              <a:ea typeface="+mn-lt"/>
              <a:cs typeface="+mn-lt"/>
            </a:endParaRPr>
          </a:p>
          <a:p>
            <a:pPr>
              <a:buNone/>
            </a:pPr>
            <a:r>
              <a:rPr lang="pt-PT" sz="900">
                <a:ea typeface="+mn-lt"/>
                <a:cs typeface="+mn-lt"/>
              </a:rPr>
              <a:t>    int p1, p2, p3, p4;</a:t>
            </a:r>
            <a:endParaRPr lang="pt-PT">
              <a:ea typeface="+mn-lt"/>
              <a:cs typeface="+mn-lt"/>
            </a:endParaRPr>
          </a:p>
          <a:p>
            <a:pPr>
              <a:buNone/>
            </a:pPr>
            <a:r>
              <a:rPr lang="pt-PT" sz="900">
                <a:ea typeface="+mn-lt"/>
                <a:cs typeface="+mn-lt"/>
              </a:rPr>
              <a:t>    float media;</a:t>
            </a:r>
            <a:endParaRPr lang="pt-PT">
              <a:ea typeface="+mn-lt"/>
              <a:cs typeface="+mn-lt"/>
            </a:endParaRPr>
          </a:p>
          <a:p>
            <a:pPr>
              <a:buNone/>
            </a:pPr>
            <a:r>
              <a:rPr lang="pt-PT" sz="900">
                <a:ea typeface="+mn-lt"/>
                <a:cs typeface="+mn-lt"/>
              </a:rPr>
              <a:t>    printf("Diz o primeiro número");</a:t>
            </a:r>
            <a:endParaRPr lang="pt-PT">
              <a:ea typeface="+mn-lt"/>
              <a:cs typeface="+mn-lt"/>
            </a:endParaRPr>
          </a:p>
          <a:p>
            <a:pPr>
              <a:buNone/>
            </a:pPr>
            <a:r>
              <a:rPr lang="pt-PT" sz="900">
                <a:ea typeface="+mn-lt"/>
                <a:cs typeface="+mn-lt"/>
              </a:rPr>
              <a:t>    scanf_s("%d", &amp;p1); printf("Diz o segundo número");</a:t>
            </a:r>
            <a:endParaRPr lang="pt-PT">
              <a:ea typeface="+mn-lt"/>
              <a:cs typeface="+mn-lt"/>
            </a:endParaRPr>
          </a:p>
          <a:p>
            <a:pPr>
              <a:buNone/>
            </a:pPr>
            <a:r>
              <a:rPr lang="pt-PT" sz="900">
                <a:ea typeface="+mn-lt"/>
                <a:cs typeface="+mn-lt"/>
              </a:rPr>
              <a:t>    scanf_s("%d", &amp;p2); printf("Diz o terceiro número");</a:t>
            </a:r>
            <a:endParaRPr lang="pt-PT">
              <a:ea typeface="+mn-lt"/>
              <a:cs typeface="+mn-lt"/>
            </a:endParaRPr>
          </a:p>
          <a:p>
            <a:pPr>
              <a:buNone/>
            </a:pPr>
            <a:r>
              <a:rPr lang="pt-PT" sz="900">
                <a:ea typeface="+mn-lt"/>
                <a:cs typeface="+mn-lt"/>
              </a:rPr>
              <a:t>    scanf_s("%d", &amp;p3); printf("Diz o quarto número");</a:t>
            </a:r>
            <a:endParaRPr lang="pt-PT">
              <a:ea typeface="+mn-lt"/>
              <a:cs typeface="+mn-lt"/>
            </a:endParaRPr>
          </a:p>
          <a:p>
            <a:pPr>
              <a:buNone/>
            </a:pPr>
            <a:r>
              <a:rPr lang="pt-PT" sz="900">
                <a:ea typeface="+mn-lt"/>
                <a:cs typeface="+mn-lt"/>
              </a:rPr>
              <a:t>    scanf_s("%d", &amp;p4);</a:t>
            </a:r>
            <a:endParaRPr lang="pt-PT">
              <a:ea typeface="+mn-lt"/>
              <a:cs typeface="+mn-lt"/>
            </a:endParaRPr>
          </a:p>
          <a:p>
            <a:pPr>
              <a:buNone/>
            </a:pPr>
            <a:r>
              <a:rPr lang="pt-PT" sz="900">
                <a:ea typeface="+mn-lt"/>
                <a:cs typeface="+mn-lt"/>
              </a:rPr>
              <a:t>    media = (p1 + p2 + p3 + p4) / 4.0;</a:t>
            </a:r>
            <a:endParaRPr lang="pt-PT">
              <a:ea typeface="+mn-lt"/>
              <a:cs typeface="+mn-lt"/>
            </a:endParaRPr>
          </a:p>
          <a:p>
            <a:pPr>
              <a:buNone/>
            </a:pPr>
            <a:r>
              <a:rPr lang="pt-PT" sz="900">
                <a:ea typeface="+mn-lt"/>
                <a:cs typeface="+mn-lt"/>
              </a:rPr>
              <a:t>    printf("A media é: %.2f\n", media);</a:t>
            </a:r>
            <a:endParaRPr lang="pt-PT">
              <a:ea typeface="+mn-lt"/>
              <a:cs typeface="+mn-lt"/>
            </a:endParaRPr>
          </a:p>
          <a:p>
            <a:pPr>
              <a:buNone/>
            </a:pPr>
            <a:r>
              <a:rPr lang="pt-PT" sz="900">
                <a:ea typeface="+mn-lt"/>
                <a:cs typeface="+mn-lt"/>
              </a:rPr>
              <a:t>    return 0;</a:t>
            </a:r>
            <a:endParaRPr lang="pt-PT">
              <a:ea typeface="+mn-lt"/>
              <a:cs typeface="+mn-lt"/>
            </a:endParaRPr>
          </a:p>
          <a:p>
            <a:pPr>
              <a:buNone/>
            </a:pPr>
            <a:r>
              <a:rPr lang="pt-PT" sz="900">
                <a:ea typeface="+mn-lt"/>
                <a:cs typeface="+mn-lt"/>
              </a:rPr>
              <a:t>}</a:t>
            </a:r>
            <a:endParaRPr lang="pt-PT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35288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FEAE179-C525-48F3-AD47-0E9E2B6F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D9E72F-912C-EC15-0DB3-75C1B35D3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anchor="ctr">
            <a:normAutofit/>
          </a:bodyPr>
          <a:lstStyle/>
          <a:p>
            <a:r>
              <a:rPr lang="pt-PT" sz="2800">
                <a:ea typeface="Calibri Light"/>
                <a:cs typeface="Calibri Light"/>
              </a:rPr>
              <a:t>Exercício 2</a:t>
            </a:r>
            <a:endParaRPr lang="pt-PT" sz="28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 descr="Area and Perimeter of Squares and Rectangles Explained in a Simple Way -  YouTube">
            <a:extLst>
              <a:ext uri="{FF2B5EF4-FFF2-40B4-BE49-F238E27FC236}">
                <a16:creationId xmlns:a16="http://schemas.microsoft.com/office/drawing/2014/main" id="{F1225273-CB96-1024-B0C0-341930AFE9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02" b="21684"/>
          <a:stretch>
            <a:fillRect/>
          </a:stretch>
        </p:blipFill>
        <p:spPr>
          <a:xfrm>
            <a:off x="719403" y="364142"/>
            <a:ext cx="7777234" cy="3867993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EF967A3-6054-B503-DD39-81708DB1B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2039" y="4883544"/>
            <a:ext cx="4940186" cy="155690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z="1600">
                <a:ea typeface="Calibri"/>
                <a:cs typeface="Calibri"/>
              </a:rPr>
              <a:t>Faça um programa que: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PT" sz="1600">
                <a:ea typeface="Calibri"/>
                <a:cs typeface="Calibri"/>
              </a:rPr>
              <a:t>Peça um lado de um quadrado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PT" sz="1600">
                <a:ea typeface="Calibri"/>
                <a:cs typeface="Calibri"/>
              </a:rPr>
              <a:t>Escreva a área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PT" sz="1600">
                <a:ea typeface="Calibri"/>
                <a:cs typeface="Calibri"/>
              </a:rPr>
              <a:t>Escreva o perímetro</a:t>
            </a:r>
          </a:p>
        </p:txBody>
      </p:sp>
    </p:spTree>
    <p:extLst>
      <p:ext uri="{BB962C8B-B14F-4D97-AF65-F5344CB8AC3E}">
        <p14:creationId xmlns:p14="http://schemas.microsoft.com/office/powerpoint/2010/main" val="335432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3129D7-5829-7CAC-7E5D-2CE3559A7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F3B0302-22E6-C47F-E61E-5986450CD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FF5B57-8A17-57AB-2ACE-D36724E4B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anchor="ctr">
            <a:normAutofit/>
          </a:bodyPr>
          <a:lstStyle/>
          <a:p>
            <a:r>
              <a:rPr lang="pt-PT" sz="2800" dirty="0">
                <a:ea typeface="Calibri Light"/>
                <a:cs typeface="Calibri Light"/>
              </a:rPr>
              <a:t>Exercício 3</a:t>
            </a:r>
            <a:endParaRPr lang="pt-PT" sz="28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BB6C24-8F55-F3A0-3DC6-A7D93F41F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86DC21-B05B-63C2-AB18-E8534A0B9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 descr="Area and Perimeter of Squares and Rectangles Explained in a Simple Way -  YouTube">
            <a:extLst>
              <a:ext uri="{FF2B5EF4-FFF2-40B4-BE49-F238E27FC236}">
                <a16:creationId xmlns:a16="http://schemas.microsoft.com/office/drawing/2014/main" id="{350F1ACE-D571-90E7-E9E0-2D4AAF8E31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02" b="21684"/>
          <a:stretch>
            <a:fillRect/>
          </a:stretch>
        </p:blipFill>
        <p:spPr>
          <a:xfrm>
            <a:off x="719403" y="364142"/>
            <a:ext cx="7777234" cy="3867993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66E0D61-A67F-E964-4343-A4519676E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D5D9F5F-A37A-10B8-6DA6-288B843C7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2039" y="4883544"/>
            <a:ext cx="4940186" cy="155690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z="1600">
                <a:ea typeface="Calibri"/>
                <a:cs typeface="Calibri"/>
              </a:rPr>
              <a:t>Faça um programa que para um retângulo: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PT" sz="1600">
                <a:ea typeface="Calibri"/>
                <a:cs typeface="Calibri"/>
              </a:rPr>
              <a:t>Peça a base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PT" sz="1600">
                <a:ea typeface="Calibri"/>
                <a:cs typeface="Calibri"/>
              </a:rPr>
              <a:t>Peça a altura</a:t>
            </a:r>
            <a:endParaRPr lang="pt-PT" sz="1600" dirty="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pt-PT" sz="1600">
                <a:ea typeface="Calibri"/>
                <a:cs typeface="Calibri"/>
              </a:rPr>
              <a:t>Escreva a área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PT" sz="1600">
                <a:ea typeface="Calibri"/>
                <a:cs typeface="Calibri"/>
              </a:rPr>
              <a:t>Escreva o perímetro</a:t>
            </a:r>
          </a:p>
        </p:txBody>
      </p:sp>
    </p:spTree>
    <p:extLst>
      <p:ext uri="{BB962C8B-B14F-4D97-AF65-F5344CB8AC3E}">
        <p14:creationId xmlns:p14="http://schemas.microsoft.com/office/powerpoint/2010/main" val="3698398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A1838B29BE400418F64012B09F26F25" ma:contentTypeVersion="3" ma:contentTypeDescription="Criar um novo documento." ma:contentTypeScope="" ma:versionID="3ac07e79369edef41cfbd4fd28f59b6b">
  <xsd:schema xmlns:xsd="http://www.w3.org/2001/XMLSchema" xmlns:xs="http://www.w3.org/2001/XMLSchema" xmlns:p="http://schemas.microsoft.com/office/2006/metadata/properties" xmlns:ns2="173d77ef-034d-4373-8d2e-474a77ea109d" targetNamespace="http://schemas.microsoft.com/office/2006/metadata/properties" ma:root="true" ma:fieldsID="cf9cf6ea52323ab86580d65a994018f2" ns2:_="">
    <xsd:import namespace="173d77ef-034d-4373-8d2e-474a77ea10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3d77ef-034d-4373-8d2e-474a77ea10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F3B26F3-C17C-4FE1-9177-427CAADCE7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3d77ef-034d-4373-8d2e-474a77ea10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BE814C6-B57E-48B0-81B0-8D87EF3CA4C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50629A-60DB-4860-944F-9623DF57E63A}">
  <ds:schemaRefs>
    <ds:schemaRef ds:uri="http://schemas.microsoft.com/office/2006/metadata/properties"/>
    <ds:schemaRef ds:uri="http://schemas.microsoft.com/office/infopath/2007/PartnerControls"/>
    <ds:schemaRef ds:uri="a00e5186-3ee1-4f03-a7d6-66b69971da24"/>
    <ds:schemaRef ds:uri="f40a1378-073b-4b98-b63d-f4c0e38f763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356</Words>
  <Application>Microsoft Office PowerPoint</Application>
  <PresentationFormat>Apresentação no Ecrã (4:3)</PresentationFormat>
  <Paragraphs>47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2" baseType="lpstr">
      <vt:lpstr>Office Theme</vt:lpstr>
      <vt:lpstr>C</vt:lpstr>
      <vt:lpstr>#include &lt;stdio.h&gt;</vt:lpstr>
      <vt:lpstr>int main(void)</vt:lpstr>
      <vt:lpstr>printf</vt:lpstr>
      <vt:lpstr>Usar a língua Portuguesa</vt:lpstr>
      <vt:lpstr>Tipos de dados na leitura e escrita</vt:lpstr>
      <vt:lpstr>Scanf_s</vt:lpstr>
      <vt:lpstr>Escrever dados decimais</vt:lpstr>
      <vt:lpstr>Resolução do Primeiro Fluxograma em C Exercício 1</vt:lpstr>
      <vt:lpstr>Exercício 2</vt:lpstr>
      <vt:lpstr>Exercício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lastModifiedBy/>
  <cp:revision>257</cp:revision>
  <dcterms:created xsi:type="dcterms:W3CDTF">2016-10-28T15:18:04Z</dcterms:created>
  <dcterms:modified xsi:type="dcterms:W3CDTF">2026-10-07T11:47:02Z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0x010100EA1838B29BE400418F64012B09F26F25</vt:lpwstr>
  </property>
  <property fmtid="{D5CDD505-2E9C-101B-9397-08002B2CF9AE}" pid="3" name="MediaServiceImageTags">
    <vt:lpwstr/>
  </property>
</Properties>
</file>