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8" r:id="rId4"/>
  </p:sldMasterIdLst>
  <p:notesMasterIdLst>
    <p:notesMasterId r:id="rId15"/>
  </p:notesMasterIdLst>
  <p:handoutMasterIdLst>
    <p:handoutMasterId r:id="rId16"/>
  </p:handoutMasterIdLst>
  <p:sldIdLst>
    <p:sldId id="683" r:id="rId5"/>
    <p:sldId id="602" r:id="rId6"/>
    <p:sldId id="601" r:id="rId7"/>
    <p:sldId id="603" r:id="rId8"/>
    <p:sldId id="681" r:id="rId9"/>
    <p:sldId id="604" r:id="rId10"/>
    <p:sldId id="678" r:id="rId11"/>
    <p:sldId id="679" r:id="rId12"/>
    <p:sldId id="682" r:id="rId13"/>
    <p:sldId id="68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13B5D-CA26-EF1A-66E6-86D21863A654}" v="1" dt="2024-01-24T09:02:56.101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Estilo com Tema 1 - Destaqu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Destaqu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957" autoAdjust="0"/>
  </p:normalViewPr>
  <p:slideViewPr>
    <p:cSldViewPr>
      <p:cViewPr varScale="1">
        <p:scale>
          <a:sx n="71" d="100"/>
          <a:sy n="71" d="100"/>
        </p:scale>
        <p:origin x="14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13128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04/10/2026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04/10/2026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573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486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262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05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0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51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32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446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87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4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66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DAEF2B-654D-E598-F62B-B9AD971DB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pPr algn="l"/>
            <a:r>
              <a:rPr lang="pt-PT" sz="7800">
                <a:cs typeface="Calibri Light"/>
              </a:rPr>
              <a:t>OPERADORES E TABELAS DE VERDADE EM C</a:t>
            </a:r>
            <a:endParaRPr lang="pt-PT" sz="780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EFBC0B6-AA5D-B533-201F-8AFCD3239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930" y="4582814"/>
            <a:ext cx="5349252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PT">
                <a:cs typeface="Calibri"/>
              </a:rPr>
              <a:t>Curso profissional de técnico de desenvolvimento de software</a:t>
            </a:r>
          </a:p>
          <a:p>
            <a:pPr algn="l"/>
            <a:r>
              <a:rPr lang="pt-PT">
                <a:cs typeface="Calibri"/>
              </a:rPr>
              <a:t>Clara Ferreira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AF2438-A13F-5CF2-FD1A-D3CB2610B6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504" y="6279583"/>
            <a:ext cx="3196409" cy="52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4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6183" name="Rectangle 306182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185" name="Right Triangle 306184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6187" name="Rectangle 306186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en-US" altLang="pt-PT" sz="5400" kern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Operadores relacionais</a:t>
            </a:r>
            <a:endParaRPr lang="en-US" sz="5400"/>
          </a:p>
        </p:txBody>
      </p:sp>
      <p:graphicFrame>
        <p:nvGraphicFramePr>
          <p:cNvPr id="5" name="Group 3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774679"/>
              </p:ext>
            </p:extLst>
          </p:nvPr>
        </p:nvGraphicFramePr>
        <p:xfrm>
          <a:off x="1836261" y="2705929"/>
          <a:ext cx="5468927" cy="3126628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259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82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all" spc="6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160916" marR="160916" marT="160916" marB="160916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all" spc="6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SIGNIFICADO</a:t>
                      </a:r>
                    </a:p>
                  </a:txBody>
                  <a:tcPr marL="160916" marR="160916" marT="160916" marB="16091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==</a:t>
                      </a:r>
                      <a:endParaRPr/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Igualdade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</a:t>
                      </a:r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</a:t>
                      </a:r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&lt;=</a:t>
                      </a:r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Menor ou igual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&gt;=</a:t>
                      </a:r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Maior ou igual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2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!=</a:t>
                      </a:r>
                      <a:endParaRPr dirty="0"/>
                    </a:p>
                  </a:txBody>
                  <a:tcPr marL="70155" marR="70155" marT="35069" marB="10727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9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Diferente de</a:t>
                      </a:r>
                    </a:p>
                  </a:txBody>
                  <a:tcPr marL="70155" marR="70155" marT="35069" marB="107277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35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F83E52D-898A-F56E-3B19-C87AEC054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Operadores aritméticos</a:t>
            </a:r>
          </a:p>
        </p:txBody>
      </p:sp>
      <p:graphicFrame>
        <p:nvGraphicFramePr>
          <p:cNvPr id="24" name="Group 32">
            <a:extLst>
              <a:ext uri="{FF2B5EF4-FFF2-40B4-BE49-F238E27FC236}">
                <a16:creationId xmlns:a16="http://schemas.microsoft.com/office/drawing/2014/main" id="{EB8C6EBF-B248-F62D-956E-F932359BD9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764883"/>
              </p:ext>
            </p:extLst>
          </p:nvPr>
        </p:nvGraphicFramePr>
        <p:xfrm>
          <a:off x="878629" y="2815784"/>
          <a:ext cx="5671541" cy="3189167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2491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0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119641" marR="55581" marT="92032" marB="92032" anchor="ctr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OPERAÇÃO</a:t>
                      </a:r>
                    </a:p>
                  </a:txBody>
                  <a:tcPr marL="119641" marR="55581" marT="92032" marB="92032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+</a:t>
                      </a:r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Adição</a:t>
                      </a:r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-</a:t>
                      </a:r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Subtração</a:t>
                      </a:r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*</a:t>
                      </a:r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Multiplicação</a:t>
                      </a:r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/</a:t>
                      </a:r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2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Divisão (7.0 / 2 = 3.5)</a:t>
                      </a:r>
                      <a:endParaRPr sz="1200"/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16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2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pow(a, b)</a:t>
                      </a:r>
                      <a:endParaRPr sz="1200"/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1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Potência: função de &lt;math.h&gt;</a:t>
                      </a:r>
                      <a:endParaRPr sz="1100"/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1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/</a:t>
                      </a:r>
                      <a:endParaRPr/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2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Inteiros: 7 / 2 = 3</a:t>
                      </a:r>
                      <a:endParaRPr sz="1200"/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4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%</a:t>
                      </a:r>
                      <a:endParaRPr/>
                    </a:p>
                  </a:txBody>
                  <a:tcPr marL="119641" marR="55581" marT="92032" marB="920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20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Resto: 7 % 2 = 1</a:t>
                      </a:r>
                      <a:endParaRPr sz="1200" dirty="0"/>
                    </a:p>
                  </a:txBody>
                  <a:tcPr marL="119641" marR="55581" marT="92032" marB="92032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9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44" name="Rectangle 30824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46" name="Right Triangle 30824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248" name="Rectangle 30824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en-US" altLang="pt-PT" sz="5800" kern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Operadores lógicos</a:t>
            </a:r>
            <a:endParaRPr lang="en-US" sz="5800"/>
          </a:p>
        </p:txBody>
      </p:sp>
      <p:graphicFrame>
        <p:nvGraphicFramePr>
          <p:cNvPr id="4" name="Group 2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473881"/>
              </p:ext>
            </p:extLst>
          </p:nvPr>
        </p:nvGraphicFramePr>
        <p:xfrm>
          <a:off x="2921708" y="2999016"/>
          <a:ext cx="3298033" cy="1451104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55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77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OPERADOR</a:t>
                      </a:r>
                    </a:p>
                  </a:txBody>
                  <a:tcPr marL="59798" marR="59798" marT="29899" marB="29899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SIGNIFICADO</a:t>
                      </a:r>
                    </a:p>
                  </a:txBody>
                  <a:tcPr marL="59798" marR="59798" marT="29899" marB="2989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77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! (não)</a:t>
                      </a:r>
                      <a:endParaRPr/>
                    </a:p>
                  </a:txBody>
                  <a:tcPr marL="59798" marR="59798" marT="29899" marB="29899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Negação</a:t>
                      </a:r>
                    </a:p>
                  </a:txBody>
                  <a:tcPr marL="59798" marR="59798" marT="29899" marB="2989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7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&amp;&amp; (e)</a:t>
                      </a:r>
                      <a:endParaRPr/>
                    </a:p>
                  </a:txBody>
                  <a:tcPr marL="59798" marR="59798" marT="29899" marB="29899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Conjunção</a:t>
                      </a:r>
                    </a:p>
                  </a:txBody>
                  <a:tcPr marL="59798" marR="59798" marT="29899" marB="2989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77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|| (ou)</a:t>
                      </a:r>
                      <a:endParaRPr/>
                    </a:p>
                  </a:txBody>
                  <a:tcPr marL="59798" marR="59798" marT="29899" marB="29899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</a:rPr>
                        <a:t>Disjunção</a:t>
                      </a:r>
                    </a:p>
                  </a:txBody>
                  <a:tcPr marL="59798" marR="59798" marT="29899" marB="2989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834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DE460A-92C4-16B2-FD34-3A6634791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pt-PT" sz="5400"/>
              <a:t>TABELAS DE VERDADE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228F576-FAE4-4552-58BC-4559B2EB1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>
            <a:normAutofit/>
          </a:bodyPr>
          <a:lstStyle/>
          <a:p>
            <a:r>
              <a:rPr lang="pt-PT" sz="2100"/>
              <a:t>Em C, zero representa falso e um valor diferente de zero representa verdadeiro.</a:t>
            </a:r>
          </a:p>
          <a:p>
            <a:r>
              <a:rPr lang="pt-PT" sz="2100"/>
              <a:t>Os operadores relacionais e lógicos devolvem 0 ou 1.</a:t>
            </a:r>
          </a:p>
          <a:p>
            <a:r>
              <a:rPr lang="pt-PT" sz="2100"/>
              <a:t>Nas tabelas, V = 1 e F = 0.</a:t>
            </a:r>
          </a:p>
        </p:txBody>
      </p:sp>
    </p:spTree>
    <p:extLst>
      <p:ext uri="{BB962C8B-B14F-4D97-AF65-F5344CB8AC3E}">
        <p14:creationId xmlns:p14="http://schemas.microsoft.com/office/powerpoint/2010/main" val="3446583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362" name="Rectangle 31336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64" name="Right Triangle 31336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366" name="Rectangle 31336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 anchorCtr="1">
            <a:normAutofit/>
          </a:bodyPr>
          <a:lstStyle/>
          <a:p>
            <a:pPr eaLnBrk="1" hangingPunct="1">
              <a:defRPr/>
            </a:pPr>
            <a:r>
              <a:rPr lang="pt-PT" altLang="pt-PT" sz="6300">
                <a:effectLst>
                  <a:outerShdw blurRad="38100" dist="38100" dir="2700000" algn="tl">
                    <a:srgbClr val="C0C0C0"/>
                  </a:outerShdw>
                </a:effectLst>
              </a:rPr>
              <a:t>Negação (!)</a:t>
            </a:r>
            <a:endParaRPr lang="pt-PT" sz="6300"/>
          </a:p>
        </p:txBody>
      </p:sp>
      <p:graphicFrame>
        <p:nvGraphicFramePr>
          <p:cNvPr id="4" name="Group 8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432018"/>
              </p:ext>
            </p:extLst>
          </p:nvPr>
        </p:nvGraphicFramePr>
        <p:xfrm>
          <a:off x="3708917" y="3433077"/>
          <a:ext cx="1726167" cy="2036826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740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94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</a:t>
                      </a:r>
                    </a:p>
                  </a:txBody>
                  <a:tcPr marL="125730" marR="125730" marT="62865" marB="62865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!P</a:t>
                      </a:r>
                      <a:endParaRPr/>
                    </a:p>
                  </a:txBody>
                  <a:tcPr marL="125730" marR="125730" marT="62865" marB="62865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94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25730" marR="125730" marT="62865" marB="62865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25730" marR="125730" marT="62865" marB="62865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942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25730" marR="125730" marT="62865" marB="62865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33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25730" marR="125730" marT="62865" marB="62865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2735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362" name="Rectangle 31336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64" name="Right Triangle 31336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366" name="Rectangle 31336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 anchorCtr="1">
            <a:normAutofit/>
          </a:bodyPr>
          <a:lstStyle/>
          <a:p>
            <a:pPr eaLnBrk="1" hangingPunct="1">
              <a:defRPr/>
            </a:pPr>
            <a:r>
              <a:rPr lang="pt-PT" altLang="pt-PT" sz="6300">
                <a:effectLst>
                  <a:outerShdw blurRad="38100" dist="38100" dir="2700000" algn="tl">
                    <a:srgbClr val="C0C0C0"/>
                  </a:outerShdw>
                </a:effectLst>
              </a:rPr>
              <a:t>Conjunção (&amp;&amp;)</a:t>
            </a:r>
            <a:endParaRPr lang="pt-PT" sz="6300"/>
          </a:p>
        </p:txBody>
      </p:sp>
      <p:graphicFrame>
        <p:nvGraphicFramePr>
          <p:cNvPr id="5" name="Group 8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489766"/>
              </p:ext>
            </p:extLst>
          </p:nvPr>
        </p:nvGraphicFramePr>
        <p:xfrm>
          <a:off x="1246090" y="2991690"/>
          <a:ext cx="5342134" cy="273439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526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763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all" spc="15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all" spc="15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Q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all" spc="150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 &amp;&amp; Q</a:t>
                      </a:r>
                      <a:endParaRPr/>
                    </a:p>
                  </a:txBody>
                  <a:tcPr marL="154567" marR="154567" marT="154567" marB="15456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19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54567" marR="154567" marT="154567" marB="15456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19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19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195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500" u="none" strike="noStrike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54567" marR="154567" marT="154567" marB="15456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1965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362" name="Rectangle 31336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64" name="Right Triangle 31336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366" name="Rectangle 31336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 anchorCtr="1">
            <a:normAutofit/>
          </a:bodyPr>
          <a:lstStyle/>
          <a:p>
            <a:r>
              <a:rPr lang="pt-PT" sz="6300" b="1" i="0">
                <a:effectLst/>
                <a:latin typeface="Arial" panose="020B0604020202020204" pitchFamily="34" charset="0"/>
              </a:rPr>
              <a:t>Disjunção (||)</a:t>
            </a:r>
            <a:endParaRPr lang="pt-PT" sz="6300"/>
          </a:p>
        </p:txBody>
      </p:sp>
      <p:graphicFrame>
        <p:nvGraphicFramePr>
          <p:cNvPr id="4" name="Group 8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332142"/>
              </p:ext>
            </p:extLst>
          </p:nvPr>
        </p:nvGraphicFramePr>
        <p:xfrm>
          <a:off x="963613" y="2970213"/>
          <a:ext cx="5696619" cy="267427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324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39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Q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 || Q</a:t>
                      </a:r>
                      <a:endParaRPr/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39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39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39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396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40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362" name="Rectangle 31336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64" name="Right Triangle 31336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366" name="Rectangle 31336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 anchorCtr="1">
            <a:normAutofit/>
          </a:bodyPr>
          <a:lstStyle/>
          <a:p>
            <a:pPr eaLnBrk="1" hangingPunct="1">
              <a:defRPr/>
            </a:pPr>
            <a:r>
              <a:rPr lang="pt-PT" altLang="pt-PT" sz="5800">
                <a:effectLst>
                  <a:outerShdw blurRad="38100" dist="38100" dir="2700000" algn="tl">
                    <a:srgbClr val="C0C0C0"/>
                  </a:outerShdw>
                </a:effectLst>
              </a:rPr>
              <a:t>Equivalência lógica</a:t>
            </a:r>
            <a:endParaRPr lang="pt-PT" sz="5800"/>
          </a:p>
        </p:txBody>
      </p:sp>
      <p:graphicFrame>
        <p:nvGraphicFramePr>
          <p:cNvPr id="4" name="Group 8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6814315"/>
              </p:ext>
            </p:extLst>
          </p:nvPr>
        </p:nvGraphicFramePr>
        <p:xfrm>
          <a:off x="963613" y="2970213"/>
          <a:ext cx="5552603" cy="267427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43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26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199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Q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 == Q</a:t>
                      </a:r>
                      <a:endParaRPr sz="1800"/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99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99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99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199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14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3362" name="Rectangle 31336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64" name="Right Triangle 313363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3366" name="Rectangle 313365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 anchorCtr="1">
            <a:normAutofit/>
          </a:bodyPr>
          <a:lstStyle/>
          <a:p>
            <a:pPr eaLnBrk="1" hangingPunct="1">
              <a:defRPr/>
            </a:pPr>
            <a:r>
              <a:rPr lang="pt-PT" altLang="pt-PT" sz="5400">
                <a:effectLst>
                  <a:outerShdw blurRad="38100" dist="38100" dir="2700000" algn="tl">
                    <a:srgbClr val="C0C0C0"/>
                  </a:outerShdw>
                </a:effectLst>
              </a:rPr>
              <a:t>Implicação lógica: !P || Q</a:t>
            </a:r>
            <a:endParaRPr lang="pt-PT" sz="5400"/>
          </a:p>
        </p:txBody>
      </p:sp>
      <p:graphicFrame>
        <p:nvGraphicFramePr>
          <p:cNvPr id="4" name="Group 8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512033"/>
              </p:ext>
            </p:extLst>
          </p:nvPr>
        </p:nvGraphicFramePr>
        <p:xfrm>
          <a:off x="963613" y="2970213"/>
          <a:ext cx="5624611" cy="267427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144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6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04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P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Q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1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!P || Q</a:t>
                      </a:r>
                      <a:endParaRPr sz="1800"/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04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04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04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04"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F</a:t>
                      </a:r>
                    </a:p>
                  </a:txBody>
                  <a:tcPr marL="108133" marR="108133" marT="54067" marB="54067" horzOverflow="overflow"/>
                </a:tc>
                <a:tc>
                  <a:txBody>
                    <a:bodyPr/>
                    <a:lstStyle>
                      <a:lvl1pPr algn="l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algn="l"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algn="l"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algn="l">
                        <a:buSzPct val="80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algn="l">
                        <a:buSzPct val="65000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PT" altLang="pt-PT" sz="280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</a:rPr>
                        <a:t>V</a:t>
                      </a:r>
                    </a:p>
                  </a:txBody>
                  <a:tcPr marL="108133" marR="108133" marT="54067" marB="54067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38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50629A-60DB-4860-944F-9623DF57E63A}">
  <ds:schemaRefs>
    <ds:schemaRef ds:uri="http://schemas.microsoft.com/office/2006/metadata/properties"/>
    <ds:schemaRef ds:uri="http://schemas.microsoft.com/office/infopath/2007/PartnerControls"/>
    <ds:schemaRef ds:uri="a00e5186-3ee1-4f03-a7d6-66b69971da24"/>
    <ds:schemaRef ds:uri="f40a1378-073b-4b98-b63d-f4c0e38f7637"/>
  </ds:schemaRefs>
</ds:datastoreItem>
</file>

<file path=customXml/itemProps2.xml><?xml version="1.0" encoding="utf-8"?>
<ds:datastoreItem xmlns:ds="http://schemas.openxmlformats.org/officeDocument/2006/customXml" ds:itemID="{6F909B02-228B-422F-BA27-2D2A72D1D608}"/>
</file>

<file path=customXml/itemProps3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237</Words>
  <Application>Microsoft Office PowerPoint</Application>
  <PresentationFormat>Apresentação no Ecrã (4:3)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OPERADORES E TABELAS DE VERDADE EM C</vt:lpstr>
      <vt:lpstr>Operadores relacionais</vt:lpstr>
      <vt:lpstr>Operadores aritméticos</vt:lpstr>
      <vt:lpstr>Operadores lógicos</vt:lpstr>
      <vt:lpstr>TABELAS DE VERDADE</vt:lpstr>
      <vt:lpstr>Negação (!)</vt:lpstr>
      <vt:lpstr>Conjunção (&amp;&amp;)</vt:lpstr>
      <vt:lpstr>Disjunção (||)</vt:lpstr>
      <vt:lpstr>Equivalência lógica</vt:lpstr>
      <vt:lpstr>Implicação lógica: !P || 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>Clara Maria Jesus Marques Ventura Ferreira</cp:lastModifiedBy>
  <cp:revision>68</cp:revision>
  <dcterms:created xsi:type="dcterms:W3CDTF">2016-10-28T15:18:04Z</dcterms:created>
  <dcterms:modified xsi:type="dcterms:W3CDTF">2026-10-04T18:21:41Z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</Properties>
</file>