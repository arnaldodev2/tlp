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20" r:id="rId4"/>
  </p:sldMasterIdLst>
  <p:notesMasterIdLst>
    <p:notesMasterId r:id="rId39"/>
  </p:notesMasterIdLst>
  <p:handoutMasterIdLst>
    <p:handoutMasterId r:id="rId40"/>
  </p:handoutMasterIdLst>
  <p:sldIdLst>
    <p:sldId id="690" r:id="rId5"/>
    <p:sldId id="564" r:id="rId6"/>
    <p:sldId id="565" r:id="rId7"/>
    <p:sldId id="566" r:id="rId8"/>
    <p:sldId id="567" r:id="rId9"/>
    <p:sldId id="569" r:id="rId10"/>
    <p:sldId id="571" r:id="rId11"/>
    <p:sldId id="572" r:id="rId12"/>
    <p:sldId id="574" r:id="rId13"/>
    <p:sldId id="678" r:id="rId14"/>
    <p:sldId id="679" r:id="rId15"/>
    <p:sldId id="577" r:id="rId16"/>
    <p:sldId id="427" r:id="rId17"/>
    <p:sldId id="680" r:id="rId18"/>
    <p:sldId id="681" r:id="rId19"/>
    <p:sldId id="682" r:id="rId20"/>
    <p:sldId id="683" r:id="rId21"/>
    <p:sldId id="428" r:id="rId22"/>
    <p:sldId id="429" r:id="rId23"/>
    <p:sldId id="684" r:id="rId24"/>
    <p:sldId id="685" r:id="rId25"/>
    <p:sldId id="686" r:id="rId26"/>
    <p:sldId id="687" r:id="rId27"/>
    <p:sldId id="688" r:id="rId28"/>
    <p:sldId id="443" r:id="rId29"/>
    <p:sldId id="446" r:id="rId30"/>
    <p:sldId id="447" r:id="rId31"/>
    <p:sldId id="448" r:id="rId32"/>
    <p:sldId id="449" r:id="rId33"/>
    <p:sldId id="450" r:id="rId34"/>
    <p:sldId id="452" r:id="rId35"/>
    <p:sldId id="689" r:id="rId36"/>
    <p:sldId id="453" r:id="rId37"/>
    <p:sldId id="454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CC"/>
    <a:srgbClr val="0066FF"/>
    <a:srgbClr val="3366FF"/>
    <a:srgbClr val="3399FF"/>
    <a:srgbClr val="FF9900"/>
    <a:srgbClr val="003300"/>
    <a:srgbClr val="FFCC99"/>
    <a:srgbClr val="FF9966"/>
    <a:srgbClr val="FAA260"/>
    <a:srgbClr val="009ED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4E3454-83BD-2273-F022-434F72789E78}" v="121" dt="2026-09-15T20:21:20.244"/>
  </p1510:revLst>
</p1510:revInfo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CAF9ED-07DC-4A11-8D7F-57B35C25682E}" styleName="Estilo Médio 1 - Destaqu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Estilo com Tema 1 - Destaqu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Destaqu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9" autoAdjust="0"/>
    <p:restoredTop sz="94957" autoAdjust="0"/>
  </p:normalViewPr>
  <p:slideViewPr>
    <p:cSldViewPr>
      <p:cViewPr varScale="1">
        <p:scale>
          <a:sx n="80" d="100"/>
          <a:sy n="80" d="100"/>
        </p:scale>
        <p:origin x="1517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13128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D83FDC75-7F73-4A4A-A77C-09AADF00E0EA}" type="datetimeFigureOut">
              <a:rPr lang="pt-PT" smtClean="0"/>
              <a:pPr/>
              <a:t>15/09/2026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459226BF-1F13-42D3-80DC-373E7ADD1EBC}" type="slidenum">
              <a:rPr lang="pt-PT" smtClean="0"/>
              <a:pPr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42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pt-PT" sz="1200"/>
            </a:lvl1pPr>
          </a:lstStyle>
          <a:p>
            <a:fld id="{48AEF76B-3757-4A0B-AF93-28494465C1DD}" type="datetimeFigureOut">
              <a:pPr/>
              <a:t>15/09/2026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pt-PT"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pt-PT" sz="1200"/>
            </a:lvl1pPr>
          </a:lstStyle>
          <a:p>
            <a:fld id="{75693FD4-8F83-4EF7-AC3F-0DC0388986B0}" type="slidenum"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41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P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770467"/>
            <a:ext cx="8086725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000" spc="-120" baseline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4198409"/>
            <a:ext cx="6921151" cy="1645920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53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3E9E-A95C-48F2-B4BF-A71542E0BE9A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27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767419"/>
            <a:ext cx="8085582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0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4187275"/>
            <a:ext cx="6919722" cy="1645920"/>
          </a:xfrm>
        </p:spPr>
        <p:txBody>
          <a:bodyPr anchor="t">
            <a:norm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03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7738" y="1993392"/>
            <a:ext cx="3806190" cy="3767328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29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2032000"/>
            <a:ext cx="3806190" cy="7234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736150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6310" y="2029968"/>
            <a:ext cx="3806190" cy="722376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6310" y="2734056"/>
            <a:ext cx="3806190" cy="32004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469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213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542282"/>
            <a:ext cx="253746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762000"/>
            <a:ext cx="4572000" cy="4572000"/>
          </a:xfrm>
        </p:spPr>
        <p:txBody>
          <a:bodyPr/>
          <a:lstStyle>
            <a:lvl1pPr>
              <a:defRPr sz="2200"/>
            </a:lvl1pPr>
            <a:lvl2pPr>
              <a:defRPr sz="1900"/>
            </a:lvl2pPr>
            <a:lvl3pPr>
              <a:defRPr sz="1700"/>
            </a:lvl3pPr>
            <a:lvl4pPr>
              <a:defRPr sz="15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2511813"/>
            <a:ext cx="254889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40404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737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5418668"/>
            <a:ext cx="8085582" cy="613283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rgbClr val="4D4D4D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5909735"/>
            <a:ext cx="6922008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75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809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25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695325"/>
            <a:ext cx="1971675" cy="48006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714376"/>
            <a:ext cx="5800725" cy="540067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FigureOut">
              <a:rPr lang="en-US" dirty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70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499533"/>
            <a:ext cx="8079581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206" y="1993393"/>
            <a:ext cx="8065294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412447"/>
            <a:ext cx="30861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6554697"/>
            <a:ext cx="37719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41193" y="5829748"/>
            <a:ext cx="219456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0" b="0">
                <a:ln>
                  <a:noFill/>
                </a:ln>
                <a:solidFill>
                  <a:schemeClr val="accent1">
                    <a:alpha val="2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309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74320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t-lOOUqmyY?start=1&amp;feature=oembed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EB2BCF-C3A0-0DB6-D68C-28634FD4C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746090"/>
            <a:ext cx="8192729" cy="1683417"/>
          </a:xfrm>
        </p:spPr>
        <p:txBody>
          <a:bodyPr>
            <a:normAutofit/>
          </a:bodyPr>
          <a:lstStyle/>
          <a:p>
            <a:pPr algn="ctr"/>
            <a:r>
              <a:rPr lang="pt-PT" sz="6200">
                <a:latin typeface="Calibri"/>
                <a:ea typeface="Calibri"/>
                <a:cs typeface="Calibri"/>
              </a:rPr>
              <a:t>UC 00245 – Desenvolver algoritmos</a:t>
            </a:r>
            <a:r>
              <a:rPr lang="pt-PT" sz="6200"/>
              <a:t> 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F36DA1-FDD4-4F90-5240-2A33BAA42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1270" y="5429507"/>
            <a:ext cx="7248833" cy="79431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pt-PT" sz="2000">
                <a:cs typeface="Calibri"/>
              </a:rPr>
              <a:t>Curso Profissional de Técnico de Desenvolvimento de Software</a:t>
            </a:r>
          </a:p>
          <a:p>
            <a:pPr algn="ctr"/>
            <a:r>
              <a:rPr lang="pt-PT" sz="2000">
                <a:cs typeface="Calibri"/>
              </a:rPr>
              <a:t>Clara Ferreira</a:t>
            </a:r>
            <a:endParaRPr lang="pt-PT" sz="2000">
              <a:ea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9294B0F-4E58-8CE8-FAF2-4D7BF7A09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945" y="298117"/>
            <a:ext cx="2393405" cy="39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68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3">
            <a:extLst>
              <a:ext uri="{FF2B5EF4-FFF2-40B4-BE49-F238E27FC236}">
                <a16:creationId xmlns:a16="http://schemas.microsoft.com/office/drawing/2014/main" id="{5F174B23-DE04-4B5E-BA1E-9A016A4DA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9F62617-8C63-9E3C-71B6-49B999CD9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770467"/>
            <a:ext cx="2600288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600">
                <a:solidFill>
                  <a:srgbClr val="FFFFFF"/>
                </a:solidFill>
              </a:rPr>
              <a:t>LINGUAGEM?</a:t>
            </a:r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A1B0EC1A-7845-4754-A86D-20FD7C683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5B3A7EB-AB48-FC42-2E92-B9A918531F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" r="1675"/>
          <a:stretch/>
        </p:blipFill>
        <p:spPr bwMode="auto">
          <a:xfrm>
            <a:off x="3961890" y="1409189"/>
            <a:ext cx="4699512" cy="402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4382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5C3FE1E-0A7F-41BE-A568-1BF85E2E8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0630" y="0"/>
            <a:ext cx="4103370" cy="6858000"/>
          </a:xfrm>
          <a:prstGeom prst="rect">
            <a:avLst/>
          </a:prstGeom>
          <a:solidFill>
            <a:schemeClr val="bg1">
              <a:lumMod val="8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D8A58449-DC01-4866-39FB-F87DCAAD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909" y="499533"/>
            <a:ext cx="3259394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4200"/>
              <a:t>O QUE É UMA LINGUAGEM?</a:t>
            </a:r>
          </a:p>
        </p:txBody>
      </p:sp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620AB139-F6DF-A981-495E-D4948551D8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97909" y="2011680"/>
            <a:ext cx="3259394" cy="38647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Linguagem é o sistema através do qual o homem comunica as suas ideias e sentimentos, seja através da fala, da escrita ou de outros sinais convencionais. </a:t>
            </a:r>
          </a:p>
          <a:p>
            <a:endParaRPr lang="en-US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DF2ADC5-A9FB-AB77-91D5-778883012D7D}"/>
              </a:ext>
            </a:extLst>
          </p:cNvPr>
          <p:cNvGrpSpPr/>
          <p:nvPr/>
        </p:nvGrpSpPr>
        <p:grpSpPr>
          <a:xfrm>
            <a:off x="482394" y="1712970"/>
            <a:ext cx="4088720" cy="3112018"/>
            <a:chOff x="574197" y="2038889"/>
            <a:chExt cx="3897411" cy="2966408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852D2CA6-8DD5-F11F-9DC9-D5E58A2F3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692"/>
            <a:stretch>
              <a:fillRect/>
            </a:stretch>
          </p:blipFill>
          <p:spPr>
            <a:xfrm>
              <a:off x="574197" y="2040686"/>
              <a:ext cx="1896872" cy="2964611"/>
            </a:xfrm>
            <a:prstGeom prst="rect">
              <a:avLst/>
            </a:prstGeom>
          </p:spPr>
        </p:pic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EC123EC4-8126-37DC-8BBC-BD0B94B0AFF2}"/>
                </a:ext>
              </a:extLst>
            </p:cNvPr>
            <p:cNvGrpSpPr/>
            <p:nvPr/>
          </p:nvGrpSpPr>
          <p:grpSpPr>
            <a:xfrm>
              <a:off x="2470210" y="2038889"/>
              <a:ext cx="2001398" cy="2965739"/>
              <a:chOff x="2125153" y="2038889"/>
              <a:chExt cx="2001398" cy="2965739"/>
            </a:xfrm>
          </p:grpSpPr>
          <p:pic>
            <p:nvPicPr>
              <p:cNvPr id="5" name="Imagem 4" descr="Opinion | Why there is no universal sign language, and how the embrace of  non-verbal communication is a welcome sign of the times | South China  Morning Post">
                <a:extLst>
                  <a:ext uri="{FF2B5EF4-FFF2-40B4-BE49-F238E27FC236}">
                    <a16:creationId xmlns:a16="http://schemas.microsoft.com/office/drawing/2014/main" id="{718064C7-EA07-1BB5-AA79-AC115B4BA9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0728" r="637"/>
              <a:stretch>
                <a:fillRect/>
              </a:stretch>
            </p:blipFill>
            <p:spPr>
              <a:xfrm rot="16200000">
                <a:off x="2456730" y="3334807"/>
                <a:ext cx="1346740" cy="1992902"/>
              </a:xfrm>
              <a:prstGeom prst="rect">
                <a:avLst/>
              </a:prstGeom>
            </p:spPr>
          </p:pic>
          <p:pic>
            <p:nvPicPr>
              <p:cNvPr id="8" name="Imagem 7" descr="Sleeping Tablet Computer With Face And Binary Code Royalty Free SVG,  Cliparts, Vectors, And Stock Illustration. Image 27567733.">
                <a:extLst>
                  <a:ext uri="{FF2B5EF4-FFF2-40B4-BE49-F238E27FC236}">
                    <a16:creationId xmlns:a16="http://schemas.microsoft.com/office/drawing/2014/main" id="{B10095E1-9986-FFBD-D00D-A1FA9A4A25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962"/>
              <a:stretch>
                <a:fillRect/>
              </a:stretch>
            </p:blipFill>
            <p:spPr>
              <a:xfrm>
                <a:off x="2125153" y="2038889"/>
                <a:ext cx="1979667" cy="151249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71529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DF0835F-B527-4488-A821-87C812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55B703E3-7771-A3B2-C769-BF80F13F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500">
                <a:solidFill>
                  <a:srgbClr val="FFFFFF"/>
                </a:solidFill>
              </a:rPr>
              <a:t>LINGUAGEM VERBAL</a:t>
            </a:r>
          </a:p>
        </p:txBody>
      </p:sp>
      <p:pic>
        <p:nvPicPr>
          <p:cNvPr id="9" name="Picture 8" descr="Paciente com bebé e conselheiro">
            <a:extLst>
              <a:ext uri="{FF2B5EF4-FFF2-40B4-BE49-F238E27FC236}">
                <a16:creationId xmlns:a16="http://schemas.microsoft.com/office/drawing/2014/main" id="{6580C9C8-5150-D0B4-6ED2-B8EFD52390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877" r="21874" b="-1"/>
          <a:stretch>
            <a:fillRect/>
          </a:stretch>
        </p:blipFill>
        <p:spPr>
          <a:xfrm>
            <a:off x="475499" y="640080"/>
            <a:ext cx="4708897" cy="5588101"/>
          </a:xfrm>
          <a:prstGeom prst="rect">
            <a:avLst/>
          </a:prstGeom>
        </p:spPr>
      </p:pic>
      <p:sp>
        <p:nvSpPr>
          <p:cNvPr id="7" name="Marcador de Posição de Conteúdo 6">
            <a:extLst>
              <a:ext uri="{FF2B5EF4-FFF2-40B4-BE49-F238E27FC236}">
                <a16:creationId xmlns:a16="http://schemas.microsoft.com/office/drawing/2014/main" id="{707423F0-E6BD-1C37-D0C9-7713618DAD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/>
            <a:r>
              <a:rPr lang="en-US" sz="1600">
                <a:solidFill>
                  <a:srgbClr val="FFFFFF"/>
                </a:solidFill>
              </a:rPr>
              <a:t>Na linguagem do quotidiano, o homem faz uso da linguagem verbal e não-verbal para  comunicar.</a:t>
            </a:r>
          </a:p>
          <a:p>
            <a:pPr marL="285750"/>
            <a:r>
              <a:rPr lang="en-US" sz="1600">
                <a:solidFill>
                  <a:srgbClr val="FFFFFF"/>
                </a:solidFill>
              </a:rPr>
              <a:t>Linguagem verbal integra a fala e a escrita (diálogo, informações no rádio, televisão ou imprensa, etc.). </a:t>
            </a:r>
          </a:p>
          <a:p>
            <a:endParaRPr lang="en-US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71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3">
            <a:extLst>
              <a:ext uri="{FF2B5EF4-FFF2-40B4-BE49-F238E27FC236}">
                <a16:creationId xmlns:a16="http://schemas.microsoft.com/office/drawing/2014/main" id="{76569ED6-AEF1-45AB-BB99-408BF6AD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EF425EF4-7874-624D-DC0F-4F19FFFA4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500">
                <a:solidFill>
                  <a:srgbClr val="FFFFFF"/>
                </a:solidFill>
              </a:rPr>
              <a:t>LINGUAGEM NÃO VERBAL</a:t>
            </a:r>
          </a:p>
        </p:txBody>
      </p:sp>
      <p:pic>
        <p:nvPicPr>
          <p:cNvPr id="19" name="Picture 4" descr="Non-Verbal Communication.">
            <a:extLst>
              <a:ext uri="{FF2B5EF4-FFF2-40B4-BE49-F238E27FC236}">
                <a16:creationId xmlns:a16="http://schemas.microsoft.com/office/drawing/2014/main" id="{DB1EC240-8B24-F7B9-19DF-853563517DA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499" y="1959916"/>
            <a:ext cx="4708897" cy="2948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Marcador de Posição de Conteúdo 17">
            <a:extLst>
              <a:ext uri="{FF2B5EF4-FFF2-40B4-BE49-F238E27FC236}">
                <a16:creationId xmlns:a16="http://schemas.microsoft.com/office/drawing/2014/main" id="{7028DEF9-5285-7E52-238E-AD53C1A76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Todos os outros recursos de comunicação como imagens, desenhos, símbolos, músicas, gestos, etc., fazem parte da linguagem não-verbal.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68483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078">
            <a:extLst>
              <a:ext uri="{FF2B5EF4-FFF2-40B4-BE49-F238E27FC236}">
                <a16:creationId xmlns:a16="http://schemas.microsoft.com/office/drawing/2014/main" id="{6DF0835F-B527-4488-A821-87C812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07BC9496-FA2A-1886-3CDC-F33F72D5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500">
                <a:solidFill>
                  <a:srgbClr val="FFFFFF"/>
                </a:solidFill>
              </a:rPr>
              <a:t>LINGUAGEM MISTA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8E1FE51-648E-6BA0-44E0-122ADCC2CCC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" r="-1" b="3920"/>
          <a:stretch>
            <a:fillRect/>
          </a:stretch>
        </p:blipFill>
        <p:spPr bwMode="auto">
          <a:xfrm>
            <a:off x="475499" y="640080"/>
            <a:ext cx="4708897" cy="558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Marcador de Posição de Conteúdo 7">
            <a:extLst>
              <a:ext uri="{FF2B5EF4-FFF2-40B4-BE49-F238E27FC236}">
                <a16:creationId xmlns:a16="http://schemas.microsoft.com/office/drawing/2014/main" id="{C370129E-AF73-4D24-A9EA-C9695EE8F3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Linguagem mista é o uso da linguagem verbal e não-verbal ao mesmo tempo. Por exemplo, um cartoon integra, simultaneamente, imagens, símbolos e diálogos.</a:t>
            </a:r>
          </a:p>
          <a:p>
            <a:endParaRPr lang="en-US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67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5126">
            <a:extLst>
              <a:ext uri="{FF2B5EF4-FFF2-40B4-BE49-F238E27FC236}">
                <a16:creationId xmlns:a16="http://schemas.microsoft.com/office/drawing/2014/main" id="{6DF0835F-B527-4488-A821-87C812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A672D1E-0CD5-8518-EC12-A250A69A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500" b="1">
                <a:solidFill>
                  <a:srgbClr val="FFFFFF"/>
                </a:solidFill>
              </a:rPr>
              <a:t>LINGUAGENS NATURAIS </a:t>
            </a:r>
            <a:endParaRPr lang="en-US" sz="3500">
              <a:solidFill>
                <a:srgbClr val="FFFFFF"/>
              </a:solidFill>
            </a:endParaRPr>
          </a:p>
        </p:txBody>
      </p:sp>
      <p:pic>
        <p:nvPicPr>
          <p:cNvPr id="5122" name="Picture 2" descr="Communication between birds - Islam Guidance">
            <a:extLst>
              <a:ext uri="{FF2B5EF4-FFF2-40B4-BE49-F238E27FC236}">
                <a16:creationId xmlns:a16="http://schemas.microsoft.com/office/drawing/2014/main" id="{84D760B9-FEBE-3748-0E5C-CADDFBC2D83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8" b="16707"/>
          <a:stretch>
            <a:fillRect/>
          </a:stretch>
        </p:blipFill>
        <p:spPr bwMode="auto">
          <a:xfrm>
            <a:off x="475499" y="640080"/>
            <a:ext cx="4708897" cy="558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Marcador de Posição de Conteúdo 8">
            <a:extLst>
              <a:ext uri="{FF2B5EF4-FFF2-40B4-BE49-F238E27FC236}">
                <a16:creationId xmlns:a16="http://schemas.microsoft.com/office/drawing/2014/main" id="{5969399D-469B-0269-5EF6-5690E9DC4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As linguagens naturais são efetivamente criadas por seres vivos e são originadas entre duas entidades isoladas.</a:t>
            </a:r>
          </a:p>
          <a:p>
            <a:r>
              <a:rPr lang="en-US" sz="1600">
                <a:solidFill>
                  <a:srgbClr val="FFFFFF"/>
                </a:solidFill>
              </a:rPr>
              <a:t>A linguagem natural é normalmente utilizado para a comunicação entre os seres vivos.</a:t>
            </a:r>
          </a:p>
          <a:p>
            <a:endParaRPr lang="en-US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06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>
            <a:extLst>
              <a:ext uri="{FF2B5EF4-FFF2-40B4-BE49-F238E27FC236}">
                <a16:creationId xmlns:a16="http://schemas.microsoft.com/office/drawing/2014/main" id="{49593463-2FB8-C927-7756-72F2BC32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6593" y="499533"/>
            <a:ext cx="4940710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LINGUAGEM FORMAL</a:t>
            </a:r>
          </a:p>
        </p:txBody>
      </p:sp>
      <p:pic>
        <p:nvPicPr>
          <p:cNvPr id="19" name="Picture 2" descr="Computer Skills Course: Binary Language of Computers - YouTube">
            <a:extLst>
              <a:ext uri="{FF2B5EF4-FFF2-40B4-BE49-F238E27FC236}">
                <a16:creationId xmlns:a16="http://schemas.microsoft.com/office/drawing/2014/main" id="{88840620-121C-A338-9546-6F36BA88197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"/>
          <a:stretch/>
        </p:blipFill>
        <p:spPr bwMode="auto">
          <a:xfrm>
            <a:off x="475499" y="1654441"/>
            <a:ext cx="3000986" cy="355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Marcador de Posição de Conteúdo 9">
            <a:extLst>
              <a:ext uri="{FF2B5EF4-FFF2-40B4-BE49-F238E27FC236}">
                <a16:creationId xmlns:a16="http://schemas.microsoft.com/office/drawing/2014/main" id="{04659ADF-221E-DB5A-1440-196F7A636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6593" y="2011680"/>
            <a:ext cx="4940710" cy="386473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Linguagens formais são linguagens que foram projetadas por pessoas, para aplicações específicas. </a:t>
            </a:r>
          </a:p>
          <a:p>
            <a:r>
              <a:rPr lang="en-US" sz="2000"/>
              <a:t>A linguagem matemática é particularmente boa em denotar relações entre números e símbolos. </a:t>
            </a:r>
          </a:p>
          <a:p>
            <a:r>
              <a:rPr lang="en-US" sz="2000"/>
              <a:t>Os químicos usam uma linguagem formal para representar a estrutura química das moléculas. </a:t>
            </a:r>
          </a:p>
          <a:p>
            <a:r>
              <a:rPr lang="en-US" sz="2000"/>
              <a:t>As linguagens de programação são linguagens formais que foram desenvolvidas para comunicar com o computador.</a:t>
            </a:r>
          </a:p>
          <a:p>
            <a:pPr marL="0"/>
            <a:endParaRPr lang="en-US" sz="2000"/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2BC357CD-8020-0C50-24A8-7F9FE646DD69}"/>
              </a:ext>
            </a:extLst>
          </p:cNvPr>
          <p:cNvSpPr txBox="1">
            <a:spLocks/>
          </p:cNvSpPr>
          <p:nvPr/>
        </p:nvSpPr>
        <p:spPr>
          <a:xfrm>
            <a:off x="1443490" y="2013936"/>
            <a:ext cx="3125871" cy="3437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6858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6858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pt-PT" b="1" dirty="0"/>
          </a:p>
        </p:txBody>
      </p:sp>
    </p:spTree>
    <p:extLst>
      <p:ext uri="{BB962C8B-B14F-4D97-AF65-F5344CB8AC3E}">
        <p14:creationId xmlns:p14="http://schemas.microsoft.com/office/powerpoint/2010/main" val="172583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1030">
            <a:extLst>
              <a:ext uri="{FF2B5EF4-FFF2-40B4-BE49-F238E27FC236}">
                <a16:creationId xmlns:a16="http://schemas.microsoft.com/office/drawing/2014/main" id="{6DF0835F-B527-4488-A821-87C812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65D3B1-C33A-8BE8-0492-9E17A9F7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2700">
                <a:solidFill>
                  <a:srgbClr val="FFFFFF"/>
                </a:solidFill>
              </a:rPr>
              <a:t>DIFERENÇAS DA LINGUAGEM NATURAL  E FORMAL</a:t>
            </a:r>
            <a:br>
              <a:rPr lang="en-US" sz="2700">
                <a:solidFill>
                  <a:srgbClr val="FFFFFF"/>
                </a:solidFill>
              </a:rPr>
            </a:br>
            <a:endParaRPr lang="en-US" sz="2700">
              <a:solidFill>
                <a:srgbClr val="FFFFFF"/>
              </a:solidFill>
            </a:endParaRPr>
          </a:p>
        </p:txBody>
      </p:sp>
      <p:pic>
        <p:nvPicPr>
          <p:cNvPr id="1026" name="Picture 2" descr="Turning Ambiguity into Action: A Framework | by Nick StJohn | Medium">
            <a:extLst>
              <a:ext uri="{FF2B5EF4-FFF2-40B4-BE49-F238E27FC236}">
                <a16:creationId xmlns:a16="http://schemas.microsoft.com/office/drawing/2014/main" id="{22C44F7E-27A0-6BF3-E93E-1E29AC5BF6E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"/>
          <a:stretch>
            <a:fillRect/>
          </a:stretch>
        </p:blipFill>
        <p:spPr bwMode="auto">
          <a:xfrm>
            <a:off x="475499" y="640080"/>
            <a:ext cx="4708897" cy="558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A5266257-664A-12E3-EABC-503E437BA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Ambiguidade</a:t>
            </a:r>
          </a:p>
          <a:p>
            <a:pPr lvl="1"/>
            <a:r>
              <a:rPr lang="en-US" sz="1600">
                <a:solidFill>
                  <a:srgbClr val="FFFFFF"/>
                </a:solidFill>
              </a:rPr>
              <a:t>As linguagens formais são quase desprovidas de ambiguidade, ou seja, só significam uma coisa.</a:t>
            </a:r>
          </a:p>
        </p:txBody>
      </p:sp>
    </p:spTree>
    <p:extLst>
      <p:ext uri="{BB962C8B-B14F-4D97-AF65-F5344CB8AC3E}">
        <p14:creationId xmlns:p14="http://schemas.microsoft.com/office/powerpoint/2010/main" val="715063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5D3B1-C33A-8BE8-0492-9E17A9F7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800"/>
              <a:t>DIFERENÇAS DA LINGUAGEM NATURAL  E FORMAL</a:t>
            </a:r>
            <a:br>
              <a:rPr lang="en-US" sz="3800"/>
            </a:br>
            <a:endParaRPr lang="en-US" sz="3800"/>
          </a:p>
        </p:txBody>
      </p:sp>
      <p:pic>
        <p:nvPicPr>
          <p:cNvPr id="9" name="Picture 2" descr="13 redundant phrases you're probably using all the time | Reader's Digest  Australia">
            <a:extLst>
              <a:ext uri="{FF2B5EF4-FFF2-40B4-BE49-F238E27FC236}">
                <a16:creationId xmlns:a16="http://schemas.microsoft.com/office/drawing/2014/main" id="{D1B8CEF0-F4F9-C04B-09D8-E9BF4FE735E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99288" y="2294977"/>
            <a:ext cx="2537952" cy="3002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A5266257-664A-12E3-EABC-503E437BA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81002" y="2011680"/>
            <a:ext cx="5091783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Redundância</a:t>
            </a:r>
          </a:p>
          <a:p>
            <a:pPr lvl="1"/>
            <a:r>
              <a:rPr lang="en-US"/>
              <a:t>As linguagens naturais recorrem a muita redundância para compensar a ambiguidade e reduzir mal entendidos.</a:t>
            </a:r>
          </a:p>
          <a:p>
            <a:pPr lvl="1"/>
            <a:r>
              <a:rPr lang="en-US"/>
              <a:t>As linguagens formais são menos redundantes e mais concisas</a:t>
            </a:r>
          </a:p>
        </p:txBody>
      </p:sp>
    </p:spTree>
    <p:extLst>
      <p:ext uri="{BB962C8B-B14F-4D97-AF65-F5344CB8AC3E}">
        <p14:creationId xmlns:p14="http://schemas.microsoft.com/office/powerpoint/2010/main" val="3650290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078">
            <a:extLst>
              <a:ext uri="{FF2B5EF4-FFF2-40B4-BE49-F238E27FC236}">
                <a16:creationId xmlns:a16="http://schemas.microsoft.com/office/drawing/2014/main" id="{6DF0835F-B527-4488-A821-87C812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65D3B1-C33A-8BE8-0492-9E17A9F73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2700">
                <a:solidFill>
                  <a:srgbClr val="FFFFFF"/>
                </a:solidFill>
              </a:rPr>
              <a:t>DIFERENÇAS DA LINGUAGEM NATURAL  E FORMAL</a:t>
            </a:r>
            <a:br>
              <a:rPr lang="en-US" sz="2700">
                <a:solidFill>
                  <a:srgbClr val="FFFFFF"/>
                </a:solidFill>
              </a:rPr>
            </a:br>
            <a:endParaRPr lang="en-US" sz="2700">
              <a:solidFill>
                <a:srgbClr val="FFFFFF"/>
              </a:solidFill>
            </a:endParaRPr>
          </a:p>
        </p:txBody>
      </p:sp>
      <p:pic>
        <p:nvPicPr>
          <p:cNvPr id="3074" name="Picture 2" descr="Falling Photos Force Us to Face Our Fundamental Fears | WIRED">
            <a:extLst>
              <a:ext uri="{FF2B5EF4-FFF2-40B4-BE49-F238E27FC236}">
                <a16:creationId xmlns:a16="http://schemas.microsoft.com/office/drawing/2014/main" id="{7719A53E-D8CF-7147-28D0-85423F136B0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49" r="10132" b="-2"/>
          <a:stretch>
            <a:fillRect/>
          </a:stretch>
        </p:blipFill>
        <p:spPr bwMode="auto">
          <a:xfrm>
            <a:off x="475499" y="640080"/>
            <a:ext cx="4708897" cy="558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A5266257-664A-12E3-EABC-503E437BA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>
                <a:solidFill>
                  <a:srgbClr val="FFFFFF"/>
                </a:solidFill>
              </a:rPr>
              <a:t>Literalidade (Rigor)</a:t>
            </a:r>
          </a:p>
          <a:p>
            <a:pPr lvl="1"/>
            <a:r>
              <a:rPr lang="en-US" sz="1600">
                <a:solidFill>
                  <a:srgbClr val="FFFFFF"/>
                </a:solidFill>
              </a:rPr>
              <a:t>As linguagens naturais estão cheias de metáforas como “Caiu o Governo”</a:t>
            </a:r>
          </a:p>
          <a:p>
            <a:pPr lvl="1"/>
            <a:r>
              <a:rPr lang="en-US" sz="1600">
                <a:solidFill>
                  <a:srgbClr val="FFFFFF"/>
                </a:solidFill>
              </a:rPr>
              <a:t>Nas linguagens formais, não se recorre a substituição de palavras ou sentidos para “reforçar” ou “embelezar”</a:t>
            </a:r>
          </a:p>
        </p:txBody>
      </p:sp>
    </p:spTree>
    <p:extLst>
      <p:ext uri="{BB962C8B-B14F-4D97-AF65-F5344CB8AC3E}">
        <p14:creationId xmlns:p14="http://schemas.microsoft.com/office/powerpoint/2010/main" val="956553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4104">
            <a:extLst>
              <a:ext uri="{FF2B5EF4-FFF2-40B4-BE49-F238E27FC236}">
                <a16:creationId xmlns:a16="http://schemas.microsoft.com/office/drawing/2014/main" id="{68483532-7F25-4B74-B673-F9C576070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76178F67-4E25-2A4A-F503-81A29E512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5066"/>
            <a:ext cx="8192729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900">
                <a:solidFill>
                  <a:srgbClr val="FFFFFF"/>
                </a:solidFill>
              </a:rPr>
              <a:t>O QUE É UMA LINGUAGEM DE PROGRAMAÇÃO?</a:t>
            </a:r>
          </a:p>
        </p:txBody>
      </p:sp>
      <p:sp>
        <p:nvSpPr>
          <p:cNvPr id="9" name="Marcador de Posição de Conteúdo 8">
            <a:extLst>
              <a:ext uri="{FF2B5EF4-FFF2-40B4-BE49-F238E27FC236}">
                <a16:creationId xmlns:a16="http://schemas.microsoft.com/office/drawing/2014/main" id="{386A5D0B-624F-3EDB-2E23-4922F8CB6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5702709"/>
            <a:ext cx="8192728" cy="52110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rgbClr val="262626"/>
                </a:solidFill>
                <a:latin typeface="+mj-lt"/>
              </a:rPr>
              <a:t>A linguagem que as máquinas entendem</a:t>
            </a:r>
          </a:p>
        </p:txBody>
      </p:sp>
      <p:pic>
        <p:nvPicPr>
          <p:cNvPr id="4100" name="Picture 4" descr="6 Programming Languages Your Business Should Be Using | Blog - BairesDev">
            <a:extLst>
              <a:ext uri="{FF2B5EF4-FFF2-40B4-BE49-F238E27FC236}">
                <a16:creationId xmlns:a16="http://schemas.microsoft.com/office/drawing/2014/main" id="{8A0C2B1B-1F29-5259-9A4E-770CE80C66EA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63" r="7063"/>
          <a:stretch>
            <a:fillRect/>
          </a:stretch>
        </p:blipFill>
        <p:spPr bwMode="auto">
          <a:xfrm>
            <a:off x="20" y="10"/>
            <a:ext cx="9143980" cy="4242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482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657462C-603C-272F-5365-02E6C3B1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PROGRAMA</a:t>
            </a:r>
          </a:p>
        </p:txBody>
      </p:sp>
      <p:pic>
        <p:nvPicPr>
          <p:cNvPr id="5122" name="Picture 2" descr="Let's Code quer escalar sua 'fábrica de programadores' - Brazil Journal">
            <a:extLst>
              <a:ext uri="{FF2B5EF4-FFF2-40B4-BE49-F238E27FC236}">
                <a16:creationId xmlns:a16="http://schemas.microsoft.com/office/drawing/2014/main" id="{39C808D8-78E9-7D14-B4C0-26F0AC10715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8" r="21197" b="-1"/>
          <a:stretch>
            <a:fillRect/>
          </a:stretch>
        </p:blipFill>
        <p:spPr bwMode="auto">
          <a:xfrm>
            <a:off x="20" y="10"/>
            <a:ext cx="3058077" cy="686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63899BC-6C32-4403-71A8-D1D63EA0DD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6917" y="2011680"/>
            <a:ext cx="4821746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É um conjunto de instruções organizadas de uma forma lógica e previamente estabelecida, que permitem ao computador executar as tarefas que lhe são pedidas.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15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82DC2-F3A3-6923-08E5-D8510CE7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Tipos de Programas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CD4F2E0-2CB1-1E8C-D2E0-86E7E53484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7492" y="2011680"/>
            <a:ext cx="5156708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Programa Fonte</a:t>
            </a:r>
          </a:p>
          <a:p>
            <a:pPr lvl="1"/>
            <a:r>
              <a:rPr lang="en-US"/>
              <a:t>É o texto que nós escrevemos numa linguagem de programação</a:t>
            </a:r>
          </a:p>
          <a:p>
            <a:r>
              <a:rPr lang="en-US"/>
              <a:t>Programa Objeto</a:t>
            </a:r>
          </a:p>
          <a:p>
            <a:pPr lvl="1"/>
            <a:r>
              <a:rPr lang="en-US"/>
              <a:t>É o programa que se obtém, depois de se traduzir o programa fonte.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C31F37D9-34AE-14F3-7484-3D823C5009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"/>
          <a:stretch/>
        </p:blipFill>
        <p:spPr bwMode="auto">
          <a:xfrm>
            <a:off x="1404742" y="4141524"/>
            <a:ext cx="6261687" cy="2342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25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9AF3F-BAAF-4AB5-CBEE-72722A8AD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LINGUAGEM DE PROGRAMAÇÃO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1FA6C5C-4DB4-968D-FFBA-42BB9C434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7492" y="2011680"/>
            <a:ext cx="5156708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É um sistema de escrita para enunciar as operações a executar por um computador.</a:t>
            </a:r>
          </a:p>
          <a:p>
            <a:r>
              <a:rPr lang="en-US"/>
              <a:t>É composta por um conjunto de regras - sintaxe e uma terminologia - semântica</a:t>
            </a:r>
          </a:p>
          <a:p>
            <a:endParaRPr lang="en-US"/>
          </a:p>
        </p:txBody>
      </p:sp>
      <p:pic>
        <p:nvPicPr>
          <p:cNvPr id="7170" name="Picture 2" descr="What is Coding? A Look at the What, Why, and Where to Start">
            <a:extLst>
              <a:ext uri="{FF2B5EF4-FFF2-40B4-BE49-F238E27FC236}">
                <a16:creationId xmlns:a16="http://schemas.microsoft.com/office/drawing/2014/main" id="{964CC0ED-0BFC-1564-9D41-DABBE58D680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59" r="40170" b="2"/>
          <a:stretch>
            <a:fillRect/>
          </a:stretch>
        </p:blipFill>
        <p:spPr bwMode="auto">
          <a:xfrm>
            <a:off x="6019874" y="2076150"/>
            <a:ext cx="2537952" cy="344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7274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1">
            <a:extLst>
              <a:ext uri="{FF2B5EF4-FFF2-40B4-BE49-F238E27FC236}">
                <a16:creationId xmlns:a16="http://schemas.microsoft.com/office/drawing/2014/main" id="{5F174B23-DE04-4B5E-BA1E-9A016A4DA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7028D27-3070-53B9-F150-6C4A768D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770467"/>
            <a:ext cx="2600288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000">
                <a:solidFill>
                  <a:srgbClr val="FFFFFF"/>
                </a:solidFill>
              </a:rPr>
              <a:t>SEMÂNTICA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68C4B6CD-2504-6781-7CA1-4DA0DD7CB9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0634" y="4206876"/>
            <a:ext cx="2552282" cy="164592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900">
                <a:solidFill>
                  <a:srgbClr val="262626"/>
                </a:solidFill>
                <a:latin typeface="+mj-lt"/>
              </a:rPr>
              <a:t>Um conjunto de termos, palavras e sinais, que assumem determinados significados para o processador.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A1B0EC1A-7845-4754-A86D-20FD7C683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9292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Marcador de Posição de Conteúdo 16">
            <a:extLst>
              <a:ext uri="{FF2B5EF4-FFF2-40B4-BE49-F238E27FC236}">
                <a16:creationId xmlns:a16="http://schemas.microsoft.com/office/drawing/2014/main" id="{94EEF895-E6C8-D686-D9F0-5CDCB6F8544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961890" y="1559719"/>
            <a:ext cx="4699512" cy="372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82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4">
            <a:extLst>
              <a:ext uri="{FF2B5EF4-FFF2-40B4-BE49-F238E27FC236}">
                <a16:creationId xmlns:a16="http://schemas.microsoft.com/office/drawing/2014/main" id="{76569ED6-AEF1-45AB-BB99-408BF6AD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5A10C0D-5F62-16EE-797C-2D6406B9D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500">
                <a:solidFill>
                  <a:srgbClr val="FFFFFF"/>
                </a:solidFill>
              </a:rPr>
              <a:t>SINTAXE</a:t>
            </a:r>
          </a:p>
        </p:txBody>
      </p:sp>
      <p:pic>
        <p:nvPicPr>
          <p:cNvPr id="10" name="Marcador de Posição de Conteúdo 9">
            <a:extLst>
              <a:ext uri="{FF2B5EF4-FFF2-40B4-BE49-F238E27FC236}">
                <a16:creationId xmlns:a16="http://schemas.microsoft.com/office/drawing/2014/main" id="{16FD1C83-50E2-5B03-0B26-0D122C804B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17508" r="15173" b="-1"/>
          <a:stretch/>
        </p:blipFill>
        <p:spPr>
          <a:xfrm>
            <a:off x="475499" y="662373"/>
            <a:ext cx="4708897" cy="5543515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9D3B89F-82BA-DDDC-8FA6-08BFDC6C3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Um conjunto de regras que estipulam o modo correto de utilizar os termos da linguagem para formular instruções válidas para a máquina.</a:t>
            </a:r>
          </a:p>
        </p:txBody>
      </p:sp>
    </p:spTree>
    <p:extLst>
      <p:ext uri="{BB962C8B-B14F-4D97-AF65-F5344CB8AC3E}">
        <p14:creationId xmlns:p14="http://schemas.microsoft.com/office/powerpoint/2010/main" val="1686679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C6C85-CD32-2AA6-6927-E6EBBB0D1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 anchor="t">
            <a:normAutofit/>
          </a:bodyPr>
          <a:lstStyle/>
          <a:p>
            <a:r>
              <a:rPr lang="pt-PT"/>
              <a:t>FASES DA PROGRAMAÇÃO</a:t>
            </a:r>
          </a:p>
        </p:txBody>
      </p:sp>
      <p:pic>
        <p:nvPicPr>
          <p:cNvPr id="7" name="Picture 6" descr="Script de computador num ecrã">
            <a:extLst>
              <a:ext uri="{FF2B5EF4-FFF2-40B4-BE49-F238E27FC236}">
                <a16:creationId xmlns:a16="http://schemas.microsoft.com/office/drawing/2014/main" id="{B217AC9F-87F3-4E3F-969C-4ACDB30065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642" r="53621" b="-2"/>
          <a:stretch>
            <a:fillRect/>
          </a:stretch>
        </p:blipFill>
        <p:spPr>
          <a:xfrm>
            <a:off x="20" y="10"/>
            <a:ext cx="3058077" cy="6864408"/>
          </a:xfrm>
          <a:prstGeom prst="rect">
            <a:avLst/>
          </a:prstGeom>
        </p:spPr>
      </p:pic>
      <p:sp>
        <p:nvSpPr>
          <p:cNvPr id="5" name="Marcador de Posição de Conteúdo 4">
            <a:extLst>
              <a:ext uri="{FF2B5EF4-FFF2-40B4-BE49-F238E27FC236}">
                <a16:creationId xmlns:a16="http://schemas.microsoft.com/office/drawing/2014/main" id="{65463868-6CE5-3281-57DE-D8FAA9223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6917" y="2011680"/>
            <a:ext cx="4821746" cy="3766185"/>
          </a:xfrm>
        </p:spPr>
        <p:txBody>
          <a:bodyPr>
            <a:normAutofit/>
          </a:bodyPr>
          <a:lstStyle/>
          <a:p>
            <a:r>
              <a:rPr lang="pt-PT" sz="2200"/>
              <a:t>1ª - Definição do problema;</a:t>
            </a:r>
          </a:p>
          <a:p>
            <a:r>
              <a:rPr lang="pt-PT" sz="2200"/>
              <a:t>2ª - Planificação da resolução;</a:t>
            </a:r>
          </a:p>
          <a:p>
            <a:r>
              <a:rPr lang="pt-PT" sz="2200"/>
              <a:t>3ª - Codificação;</a:t>
            </a:r>
          </a:p>
          <a:p>
            <a:r>
              <a:rPr lang="pt-PT" sz="2200"/>
              <a:t>4ª - Testes;</a:t>
            </a:r>
          </a:p>
          <a:p>
            <a:r>
              <a:rPr lang="pt-PT" sz="2200"/>
              <a:t>5ª - Manutenção.</a:t>
            </a:r>
          </a:p>
          <a:p>
            <a:pPr marL="0" indent="0">
              <a:buNone/>
            </a:pPr>
            <a:endParaRPr lang="pt-PT" sz="2200"/>
          </a:p>
          <a:p>
            <a:pPr marL="0" indent="0">
              <a:buNone/>
            </a:pPr>
            <a:r>
              <a:rPr lang="pt-PT" sz="2200"/>
              <a:t>Ao longo de todas estas fases há uma simultânea e que consiste na DOCUMENTAÇÃO</a:t>
            </a:r>
          </a:p>
        </p:txBody>
      </p:sp>
    </p:spTree>
    <p:extLst>
      <p:ext uri="{BB962C8B-B14F-4D97-AF65-F5344CB8AC3E}">
        <p14:creationId xmlns:p14="http://schemas.microsoft.com/office/powerpoint/2010/main" val="2965163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7080C-B8A2-F848-06C3-F456386F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DEFINIÇÃO DO PROBLEMA</a:t>
            </a:r>
          </a:p>
        </p:txBody>
      </p:sp>
      <p:pic>
        <p:nvPicPr>
          <p:cNvPr id="9218" name="Picture 2" descr="How to Become a Detective: The Steps to a Dynamic Career | UCF Online">
            <a:extLst>
              <a:ext uri="{FF2B5EF4-FFF2-40B4-BE49-F238E27FC236}">
                <a16:creationId xmlns:a16="http://schemas.microsoft.com/office/drawing/2014/main" id="{1F473C81-C9D5-28EA-84A4-ECCA8254BC4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7" r="18354" b="-1"/>
          <a:stretch>
            <a:fillRect/>
          </a:stretch>
        </p:blipFill>
        <p:spPr bwMode="auto">
          <a:xfrm>
            <a:off x="20" y="10"/>
            <a:ext cx="3058077" cy="686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64026F-5762-5361-DB09-C7EEB1B9A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6917" y="2011680"/>
            <a:ext cx="4821746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Definir o problema que se pretende resolver, da forma mais clara e completa possível, enunciando todos os aspetos da situação – problema a resolver.</a:t>
            </a:r>
          </a:p>
        </p:txBody>
      </p:sp>
    </p:spTree>
    <p:extLst>
      <p:ext uri="{BB962C8B-B14F-4D97-AF65-F5344CB8AC3E}">
        <p14:creationId xmlns:p14="http://schemas.microsoft.com/office/powerpoint/2010/main" val="2277590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7080C-B8A2-F848-06C3-F456386F4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PLANIFICAÇÃO DA RESOLUÇÃO</a:t>
            </a:r>
          </a:p>
        </p:txBody>
      </p:sp>
      <p:pic>
        <p:nvPicPr>
          <p:cNvPr id="1028" name="Picture 4" descr="Algoritmos: como eles funcionam - MX Cursos">
            <a:extLst>
              <a:ext uri="{FF2B5EF4-FFF2-40B4-BE49-F238E27FC236}">
                <a16:creationId xmlns:a16="http://schemas.microsoft.com/office/drawing/2014/main" id="{2943C551-B3CA-06D5-85A7-2ABA5A8D9A3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05" r="21270" b="-2"/>
          <a:stretch>
            <a:fillRect/>
          </a:stretch>
        </p:blipFill>
        <p:spPr bwMode="auto">
          <a:xfrm>
            <a:off x="20" y="10"/>
            <a:ext cx="3058077" cy="686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64026F-5762-5361-DB09-C7EEB1B9A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6917" y="2011680"/>
            <a:ext cx="4821746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Há diversas estratégias de abordagem ao problema e diversos métodos de representação que conduzem à solução.</a:t>
            </a:r>
          </a:p>
          <a:p>
            <a:r>
              <a:rPr lang="en-US"/>
              <a:t> É nesta fase que surgem os algoritmos.</a:t>
            </a:r>
          </a:p>
        </p:txBody>
      </p:sp>
    </p:spTree>
    <p:extLst>
      <p:ext uri="{BB962C8B-B14F-4D97-AF65-F5344CB8AC3E}">
        <p14:creationId xmlns:p14="http://schemas.microsoft.com/office/powerpoint/2010/main" val="28565544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7D5B6-2C74-A416-356E-93A983CE9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43" y="499533"/>
            <a:ext cx="4922045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CODIFICAÇÃO</a:t>
            </a:r>
          </a:p>
        </p:txBody>
      </p:sp>
      <p:pic>
        <p:nvPicPr>
          <p:cNvPr id="2050" name="Picture 2" descr="O que é algoritmo? – Tecnoblog">
            <a:extLst>
              <a:ext uri="{FF2B5EF4-FFF2-40B4-BE49-F238E27FC236}">
                <a16:creationId xmlns:a16="http://schemas.microsoft.com/office/drawing/2014/main" id="{09B24D3F-F2D3-79E3-201C-2D5619F0CDE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22" r="13856" b="-1"/>
          <a:stretch>
            <a:fillRect/>
          </a:stretch>
        </p:blipFill>
        <p:spPr bwMode="auto">
          <a:xfrm>
            <a:off x="20" y="10"/>
            <a:ext cx="3058077" cy="686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C903BDB-5149-DBE6-B8E6-E952086D9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26917" y="2011680"/>
            <a:ext cx="4821746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As ações dos algoritmos passam a instruções da linguagem de programação que se vai utilizar.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356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428DA-20D7-51DD-B020-248914E2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5400"/>
              <a:t>TESTES</a:t>
            </a:r>
          </a:p>
        </p:txBody>
      </p:sp>
      <p:pic>
        <p:nvPicPr>
          <p:cNvPr id="3074" name="Picture 2" descr="How Does Code Coverage Help in Testing?">
            <a:extLst>
              <a:ext uri="{FF2B5EF4-FFF2-40B4-BE49-F238E27FC236}">
                <a16:creationId xmlns:a16="http://schemas.microsoft.com/office/drawing/2014/main" id="{F901087D-3FE2-8134-CF77-2B83895DA5B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6" r="27422" b="1"/>
          <a:stretch>
            <a:fillRect/>
          </a:stretch>
        </p:blipFill>
        <p:spPr bwMode="auto">
          <a:xfrm>
            <a:off x="599288" y="2076150"/>
            <a:ext cx="2537952" cy="344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3C61143-BDE1-EE8A-34DA-D80657900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81002" y="2011680"/>
            <a:ext cx="5091783" cy="37661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É necessário testar o código recorrendo a </a:t>
            </a:r>
            <a:r>
              <a:rPr lang="en-US" altLang="pt-PT"/>
              <a:t>diversos tipos de dados e em diferentes situações, de modo a poderem detetar-se eventuais erros, falhas ou omissões.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896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102">
            <a:extLst>
              <a:ext uri="{FF2B5EF4-FFF2-40B4-BE49-F238E27FC236}">
                <a16:creationId xmlns:a16="http://schemas.microsoft.com/office/drawing/2014/main" id="{76569ED6-AEF1-45AB-BB99-408BF6AD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89FB9E-92FB-E846-5090-5D6B0FC80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2700">
                <a:solidFill>
                  <a:srgbClr val="FFFFFF"/>
                </a:solidFill>
              </a:rPr>
              <a:t>DOCUMENTAÇÃO</a:t>
            </a:r>
          </a:p>
        </p:txBody>
      </p:sp>
      <p:pic>
        <p:nvPicPr>
          <p:cNvPr id="4098" name="Picture 2" descr="How To Write Code Documentation">
            <a:extLst>
              <a:ext uri="{FF2B5EF4-FFF2-40B4-BE49-F238E27FC236}">
                <a16:creationId xmlns:a16="http://schemas.microsoft.com/office/drawing/2014/main" id="{B92DE5BF-0595-F20C-639D-74EBC7B3785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3" r="25246"/>
          <a:stretch/>
        </p:blipFill>
        <p:spPr bwMode="auto">
          <a:xfrm>
            <a:off x="939465" y="640080"/>
            <a:ext cx="3780965" cy="558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E1F437B-E973-F85F-627E-9170BBB1E4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Deve elaborar-se dois tipos de documentação. Uma para os programadores e outra para os utilizadores.</a:t>
            </a:r>
          </a:p>
          <a:p>
            <a:r>
              <a:rPr lang="en-US" sz="1600"/>
              <a:t>Para os programadores a documentação é o  código do programa e serve para eventuais alterações ou melhoramentos do mesmo.</a:t>
            </a:r>
          </a:p>
          <a:p>
            <a:r>
              <a:rPr lang="en-US" sz="1600"/>
              <a:t>Para os utilizadores a documentação visa facilitar o modo de operar com o programa.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932490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">
            <a:extLst>
              <a:ext uri="{FF2B5EF4-FFF2-40B4-BE49-F238E27FC236}">
                <a16:creationId xmlns:a16="http://schemas.microsoft.com/office/drawing/2014/main" id="{76569ED6-AEF1-45AB-BB99-408BF6AD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6DC8D9-232E-A50F-7F48-3F745E68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>
                <a:solidFill>
                  <a:srgbClr val="FFFFFF"/>
                </a:solidFill>
              </a:rPr>
              <a:t>MANUTENÇÃO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56AFFCA7-759E-0EC3-8B44-E2888095A4B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3610" r="44589" b="1"/>
          <a:stretch/>
        </p:blipFill>
        <p:spPr>
          <a:xfrm>
            <a:off x="939426" y="640080"/>
            <a:ext cx="3781042" cy="5588101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0A33F1B-D1F7-53B0-D706-03D1D1910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Esta fase diz respeito a alterações que sejam necessárias ou a aperfeiçoamentos que se revelem úteis.</a:t>
            </a:r>
          </a:p>
          <a:p>
            <a:r>
              <a:rPr lang="en-US" sz="1600"/>
              <a:t>Ocupa uma grande parte do trabalho dos programadores.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066089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5F174B23-DE04-4B5E-BA1E-9A016A4DA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077482B4-5D3C-1EDC-7813-FB0E05F70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216" y="770467"/>
            <a:ext cx="2600288" cy="335280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300">
                <a:solidFill>
                  <a:srgbClr val="FFFFFF"/>
                </a:solidFill>
              </a:rPr>
              <a:t>ALGORITMO EM FLUXOGRAMA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78ABA48F-8127-4837-A25A-78E6F4A3F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6470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blog do nello: Fluxograma para resolução de problemas">
            <a:extLst>
              <a:ext uri="{FF2B5EF4-FFF2-40B4-BE49-F238E27FC236}">
                <a16:creationId xmlns:a16="http://schemas.microsoft.com/office/drawing/2014/main" id="{33932731-890F-B37C-06ED-CC773E975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2598" y="1284513"/>
            <a:ext cx="4699512" cy="4274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5439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Rectangle 21510">
            <a:extLst>
              <a:ext uri="{FF2B5EF4-FFF2-40B4-BE49-F238E27FC236}">
                <a16:creationId xmlns:a16="http://schemas.microsoft.com/office/drawing/2014/main" id="{76569ED6-AEF1-45AB-BB99-408BF6AD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539EA5-2E3C-5F07-8B0B-0D38AF57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3200">
                <a:solidFill>
                  <a:srgbClr val="FFFFFF"/>
                </a:solidFill>
              </a:rPr>
              <a:t>SUBSTITUIÇÃO DE UMA LÂMPADA FUNDIDA</a:t>
            </a:r>
          </a:p>
        </p:txBody>
      </p:sp>
      <p:pic>
        <p:nvPicPr>
          <p:cNvPr id="6146" name="Picture 2" descr="Como trocar lâmpada: cuidados necessários e dicas passo a passo">
            <a:extLst>
              <a:ext uri="{FF2B5EF4-FFF2-40B4-BE49-F238E27FC236}">
                <a16:creationId xmlns:a16="http://schemas.microsoft.com/office/drawing/2014/main" id="{E6C48A78-CAC0-3766-C987-0A581C10686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"/>
          <a:stretch/>
        </p:blipFill>
        <p:spPr bwMode="auto">
          <a:xfrm>
            <a:off x="475499" y="662219"/>
            <a:ext cx="4708897" cy="5543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129909" y="2419773"/>
            <a:ext cx="2551176" cy="3358092"/>
          </a:xfrm>
        </p:spPr>
        <p:txBody>
          <a:bodyPr vert="horz" lIns="91440" tIns="45720" rIns="91440" bIns="45720" rtlCol="0">
            <a:normAutofit/>
          </a:bodyPr>
          <a:lstStyle/>
          <a:p>
            <a:pPr marL="266700"/>
            <a:r>
              <a:rPr lang="en-US" altLang="pt-PT" sz="1600"/>
              <a:t>Preparar uma lâmpada nova.</a:t>
            </a:r>
          </a:p>
          <a:p>
            <a:pPr marL="266700"/>
            <a:r>
              <a:rPr lang="en-US" altLang="pt-PT" sz="1600"/>
              <a:t>Retirar a lâmpada fundida.</a:t>
            </a:r>
          </a:p>
          <a:p>
            <a:pPr marL="266700"/>
            <a:r>
              <a:rPr lang="en-US" altLang="pt-PT" sz="1600"/>
              <a:t>Colocar a lâmpada nova.</a:t>
            </a:r>
          </a:p>
          <a:p>
            <a:endParaRPr lang="en-US" altLang="pt-PT" sz="1600"/>
          </a:p>
        </p:txBody>
      </p:sp>
    </p:spTree>
    <p:extLst>
      <p:ext uri="{BB962C8B-B14F-4D97-AF65-F5344CB8AC3E}">
        <p14:creationId xmlns:p14="http://schemas.microsoft.com/office/powerpoint/2010/main" val="80893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7" name="Rectangle 22536">
            <a:extLst>
              <a:ext uri="{FF2B5EF4-FFF2-40B4-BE49-F238E27FC236}">
                <a16:creationId xmlns:a16="http://schemas.microsoft.com/office/drawing/2014/main" id="{6DF0835F-B527-4488-A821-87C812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982B46-26E7-0B2D-31A9-CF54A587F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anchor="b">
            <a:normAutofit/>
          </a:bodyPr>
          <a:lstStyle/>
          <a:p>
            <a:r>
              <a:rPr lang="pt-PT" sz="3200">
                <a:solidFill>
                  <a:srgbClr val="FFFFFF"/>
                </a:solidFill>
              </a:rPr>
              <a:t>SUBSTITUIÇÃO DE UMA LÂMPADA FUNDIDA</a:t>
            </a:r>
          </a:p>
        </p:txBody>
      </p:sp>
      <p:pic>
        <p:nvPicPr>
          <p:cNvPr id="22532" name="Picture 22531" descr="Lâmpada apagada com fundo iluminado">
            <a:extLst>
              <a:ext uri="{FF2B5EF4-FFF2-40B4-BE49-F238E27FC236}">
                <a16:creationId xmlns:a16="http://schemas.microsoft.com/office/drawing/2014/main" id="{BC825C6B-3554-2F07-AB14-3BB7F797B8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70" r="21381" b="-1"/>
          <a:stretch>
            <a:fillRect/>
          </a:stretch>
        </p:blipFill>
        <p:spPr>
          <a:xfrm>
            <a:off x="475499" y="640080"/>
            <a:ext cx="4708897" cy="5588101"/>
          </a:xfrm>
          <a:prstGeom prst="rect">
            <a:avLst/>
          </a:prstGeom>
        </p:spPr>
      </p:pic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6129909" y="2419773"/>
            <a:ext cx="2551176" cy="3358092"/>
          </a:xfrm>
        </p:spPr>
        <p:txBody>
          <a:bodyPr>
            <a:normAutofit/>
          </a:bodyPr>
          <a:lstStyle/>
          <a:p>
            <a:pPr eaLnBrk="1" hangingPunct="1"/>
            <a:r>
              <a:rPr lang="pt-PT" altLang="pt-PT" sz="1600">
                <a:solidFill>
                  <a:srgbClr val="FFFFFF"/>
                </a:solidFill>
              </a:rPr>
              <a:t>Mas, entretanto, podemos acrescentar outras ações: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pt-PT" altLang="pt-PT" sz="1600">
                <a:solidFill>
                  <a:srgbClr val="FFFFFF"/>
                </a:solidFill>
              </a:rPr>
              <a:t>Ligar o interruptor para verificar se a nova lâmpada acende.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pt-PT" altLang="pt-PT" sz="1600" u="sng">
                <a:solidFill>
                  <a:srgbClr val="FFFFFF"/>
                </a:solidFill>
              </a:rPr>
              <a:t>Se</a:t>
            </a:r>
            <a:r>
              <a:rPr lang="pt-PT" altLang="pt-PT" sz="1600">
                <a:solidFill>
                  <a:srgbClr val="FFFFFF"/>
                </a:solidFill>
              </a:rPr>
              <a:t> a lâmpada acender, podemos dar o processo por concluído, mas se não acender teremos de voltar ao passo 1.</a:t>
            </a:r>
          </a:p>
          <a:p>
            <a:pPr eaLnBrk="1" hangingPunct="1"/>
            <a:endParaRPr lang="pt-PT" altLang="pt-PT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8574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1" name="Rectangle 23560">
            <a:extLst>
              <a:ext uri="{FF2B5EF4-FFF2-40B4-BE49-F238E27FC236}">
                <a16:creationId xmlns:a16="http://schemas.microsoft.com/office/drawing/2014/main" id="{76569ED6-AEF1-45AB-BB99-408BF6ADB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8AA4A6-2F3B-324C-DCD6-017F2DCFF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anchor="b">
            <a:normAutofit/>
          </a:bodyPr>
          <a:lstStyle/>
          <a:p>
            <a:r>
              <a:rPr lang="pt-PT" sz="3200">
                <a:solidFill>
                  <a:srgbClr val="FFFFFF"/>
                </a:solidFill>
              </a:rPr>
              <a:t>SUBSTITUIÇÃO DE UMA LÂMPADA FUNDIDA</a:t>
            </a:r>
          </a:p>
        </p:txBody>
      </p:sp>
      <p:pic>
        <p:nvPicPr>
          <p:cNvPr id="23556" name="Picture 23555">
            <a:extLst>
              <a:ext uri="{FF2B5EF4-FFF2-40B4-BE49-F238E27FC236}">
                <a16:creationId xmlns:a16="http://schemas.microsoft.com/office/drawing/2014/main" id="{F52228DF-93B8-5C44-5BE3-8B12818FB4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770" r="52091" b="6250"/>
          <a:stretch/>
        </p:blipFill>
        <p:spPr>
          <a:xfrm>
            <a:off x="862193" y="640080"/>
            <a:ext cx="3935508" cy="5588101"/>
          </a:xfrm>
          <a:prstGeom prst="rect">
            <a:avLst/>
          </a:prstGeom>
        </p:spPr>
      </p:pic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6129909" y="2419773"/>
            <a:ext cx="2551176" cy="3358092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pt-PT" altLang="pt-PT" sz="1600"/>
              <a:t>	Com estas  ações a sequência já não se mantém numa simples ordem linear, pois a uma determinada altura surge uma condição associada à palavra “SE”.</a:t>
            </a:r>
          </a:p>
        </p:txBody>
      </p:sp>
    </p:spTree>
    <p:extLst>
      <p:ext uri="{BB962C8B-B14F-4D97-AF65-F5344CB8AC3E}">
        <p14:creationId xmlns:p14="http://schemas.microsoft.com/office/powerpoint/2010/main" val="35298221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5" name="Rectangle 24584">
            <a:extLst>
              <a:ext uri="{FF2B5EF4-FFF2-40B4-BE49-F238E27FC236}">
                <a16:creationId xmlns:a16="http://schemas.microsoft.com/office/drawing/2014/main" id="{6DF0835F-B527-4488-A821-87C812F846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6994" y="0"/>
            <a:ext cx="3477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89CED4-B25E-5148-ED36-06A32FE7F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9909" y="499533"/>
            <a:ext cx="2551176" cy="1920240"/>
          </a:xfrm>
        </p:spPr>
        <p:txBody>
          <a:bodyPr anchor="b">
            <a:normAutofit/>
          </a:bodyPr>
          <a:lstStyle/>
          <a:p>
            <a:r>
              <a:rPr lang="pt-PT" sz="3200">
                <a:solidFill>
                  <a:srgbClr val="FFFFFF"/>
                </a:solidFill>
              </a:rPr>
              <a:t>SUBSTITUIÇÃO DE UMA LÂMPADA FUNDIDA</a:t>
            </a:r>
          </a:p>
        </p:txBody>
      </p:sp>
      <p:pic>
        <p:nvPicPr>
          <p:cNvPr id="24580" name="Picture 24579" descr="Três lâmpadas claro">
            <a:extLst>
              <a:ext uri="{FF2B5EF4-FFF2-40B4-BE49-F238E27FC236}">
                <a16:creationId xmlns:a16="http://schemas.microsoft.com/office/drawing/2014/main" id="{2C5944FA-D785-29D9-1DA0-E350022BCB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66" r="41397"/>
          <a:stretch>
            <a:fillRect/>
          </a:stretch>
        </p:blipFill>
        <p:spPr>
          <a:xfrm>
            <a:off x="475499" y="640080"/>
            <a:ext cx="4708897" cy="5588101"/>
          </a:xfrm>
          <a:prstGeom prst="rect">
            <a:avLst/>
          </a:prstGeom>
        </p:spPr>
      </p:pic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>
          <a:xfrm>
            <a:off x="6129909" y="2419773"/>
            <a:ext cx="2551176" cy="3358092"/>
          </a:xfrm>
        </p:spPr>
        <p:txBody>
          <a:bodyPr>
            <a:normAutofit/>
          </a:bodyPr>
          <a:lstStyle/>
          <a:p>
            <a:pPr eaLnBrk="1" hangingPunct="1"/>
            <a:endParaRPr lang="pt-PT" altLang="pt-PT" sz="1200">
              <a:solidFill>
                <a:srgbClr val="FFFFFF"/>
              </a:solidFill>
            </a:endParaRPr>
          </a:p>
          <a:p>
            <a:pPr eaLnBrk="1" hangingPunct="1"/>
            <a:r>
              <a:rPr lang="pt-PT" altLang="pt-PT" sz="1200">
                <a:solidFill>
                  <a:srgbClr val="FFFFFF"/>
                </a:solidFill>
              </a:rPr>
              <a:t>Essa condição tem 2 ramificações distintas:</a:t>
            </a:r>
          </a:p>
          <a:p>
            <a:pPr marL="82550" indent="0" eaLnBrk="1" hangingPunct="1">
              <a:buNone/>
            </a:pPr>
            <a:endParaRPr lang="pt-PT" altLang="pt-PT" sz="1200">
              <a:solidFill>
                <a:srgbClr val="FFFF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pt-PT" altLang="pt-PT" sz="1200">
                <a:solidFill>
                  <a:srgbClr val="FFFFFF"/>
                </a:solidFill>
              </a:rPr>
              <a:t> - se a condição se verificar (se a lâmpada acender), processo concluído.</a:t>
            </a:r>
          </a:p>
          <a:p>
            <a:pPr eaLnBrk="1" hangingPunct="1">
              <a:buFont typeface="Wingdings" pitchFamily="2" charset="2"/>
              <a:buNone/>
            </a:pPr>
            <a:r>
              <a:rPr lang="pt-PT" altLang="pt-PT" sz="1200">
                <a:solidFill>
                  <a:srgbClr val="FFFFFF"/>
                </a:solidFill>
              </a:rPr>
              <a:t> - se a condição não se verificar (se a lâmpada não acender), repetir os passos anteriores.</a:t>
            </a:r>
          </a:p>
          <a:p>
            <a:pPr eaLnBrk="1" hangingPunct="1">
              <a:buFont typeface="Wingdings" pitchFamily="2" charset="2"/>
              <a:buNone/>
            </a:pPr>
            <a:endParaRPr lang="pt-PT" altLang="pt-PT" sz="1200">
              <a:solidFill>
                <a:srgbClr val="FFFFFF"/>
              </a:solidFill>
            </a:endParaRPr>
          </a:p>
          <a:p>
            <a:pPr eaLnBrk="1" hangingPunct="1">
              <a:buFont typeface="Wingdings" pitchFamily="2" charset="2"/>
              <a:buNone/>
            </a:pPr>
            <a:r>
              <a:rPr lang="pt-PT" altLang="pt-PT" sz="1200">
                <a:solidFill>
                  <a:srgbClr val="FFFFFF"/>
                </a:solidFill>
              </a:rPr>
              <a:t>Estas situações condicionais são um elemento comum nos algoritmos e nos programas.</a:t>
            </a:r>
          </a:p>
        </p:txBody>
      </p:sp>
    </p:spTree>
    <p:extLst>
      <p:ext uri="{BB962C8B-B14F-4D97-AF65-F5344CB8AC3E}">
        <p14:creationId xmlns:p14="http://schemas.microsoft.com/office/powerpoint/2010/main" val="126241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C8CEE-C048-F75E-520C-58D9E061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499533"/>
            <a:ext cx="8079581" cy="1658198"/>
          </a:xfrm>
        </p:spPr>
        <p:txBody>
          <a:bodyPr anchor="t">
            <a:normAutofit/>
          </a:bodyPr>
          <a:lstStyle/>
          <a:p>
            <a:r>
              <a:rPr lang="pt-PT"/>
              <a:t>SUBSTITUIÇÃO DE UMA LÂMPADA FUNDIDA</a:t>
            </a:r>
          </a:p>
        </p:txBody>
      </p:sp>
      <p:pic>
        <p:nvPicPr>
          <p:cNvPr id="25604" name="Picture 25603" descr="Lâmpada com um fundo de luzes suspensas">
            <a:extLst>
              <a:ext uri="{FF2B5EF4-FFF2-40B4-BE49-F238E27FC236}">
                <a16:creationId xmlns:a16="http://schemas.microsoft.com/office/drawing/2014/main" id="{B7A160B6-BB85-DBD6-22B6-849CA87E30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" r="51407"/>
          <a:stretch>
            <a:fillRect/>
          </a:stretch>
        </p:blipFill>
        <p:spPr>
          <a:xfrm>
            <a:off x="599288" y="2076150"/>
            <a:ext cx="2537952" cy="3440068"/>
          </a:xfrm>
          <a:prstGeom prst="rect">
            <a:avLst/>
          </a:prstGeom>
        </p:spPr>
      </p:pic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3481002" y="2011680"/>
            <a:ext cx="5091783" cy="3766185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pt-PT" altLang="pt-PT" sz="1300"/>
              <a:t>Podemos ainda adicionar a ação ir buscar um escadote para mudar a lâmpada, assim fica: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pt-PT" altLang="pt-PT" sz="1300"/>
              <a:t>Preparar a lâmpada nova.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pt-PT" altLang="pt-PT" sz="1300"/>
              <a:t>Colocar o escadote debaixo do candeeiro.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pt-PT" altLang="pt-PT" sz="1300"/>
              <a:t>Retirar a lâmpada fundida.</a:t>
            </a:r>
          </a:p>
          <a:p>
            <a:pPr marL="457200" indent="-457200" eaLnBrk="1" hangingPunct="1">
              <a:buFont typeface="+mj-lt"/>
              <a:buAutoNum type="arabicPeriod"/>
            </a:pPr>
            <a:r>
              <a:rPr lang="pt-PT" altLang="pt-PT" sz="1300"/>
              <a:t>Colocar a lâmpada nova.</a:t>
            </a:r>
          </a:p>
          <a:p>
            <a:pPr marL="457200" indent="-457200">
              <a:buFont typeface="+mj-lt"/>
              <a:buAutoNum type="arabicPeriod"/>
            </a:pPr>
            <a:r>
              <a:rPr lang="pt-PT" altLang="pt-PT" sz="1300"/>
              <a:t>Descer do escadote.</a:t>
            </a:r>
          </a:p>
          <a:p>
            <a:pPr marL="457200" indent="-457200">
              <a:buFont typeface="+mj-lt"/>
              <a:buAutoNum type="arabicPeriod"/>
            </a:pPr>
            <a:r>
              <a:rPr lang="pt-PT" altLang="pt-PT" sz="1300"/>
              <a:t>Ligar o interruptor para verificar se a nova lâmpada acende.</a:t>
            </a:r>
          </a:p>
          <a:p>
            <a:pPr marL="457200" indent="-457200">
              <a:buFont typeface="+mj-lt"/>
              <a:buAutoNum type="arabicPeriod"/>
            </a:pPr>
            <a:r>
              <a:rPr lang="pt-PT" altLang="pt-PT" sz="1300"/>
              <a:t>Se a lâmpada acender, dar o processo por concluído.</a:t>
            </a:r>
          </a:p>
          <a:p>
            <a:pPr marL="749808" lvl="1" indent="-457200">
              <a:buFont typeface="+mj-lt"/>
              <a:buAutoNum type="alphaLcPeriod"/>
            </a:pPr>
            <a:r>
              <a:rPr lang="pt-PT" altLang="pt-PT" sz="1300"/>
              <a:t>Arrumar o escadote.</a:t>
            </a:r>
          </a:p>
          <a:p>
            <a:pPr marL="457200" indent="-457200">
              <a:buFont typeface="+mj-lt"/>
              <a:buAutoNum type="arabicPeriod"/>
            </a:pPr>
            <a:r>
              <a:rPr lang="pt-PT" altLang="pt-PT" sz="1300"/>
              <a:t>Senão, ir para 1.</a:t>
            </a:r>
          </a:p>
          <a:p>
            <a:pPr eaLnBrk="1" hangingPunct="1">
              <a:buFont typeface="Wingdings" pitchFamily="2" charset="2"/>
              <a:buNone/>
            </a:pPr>
            <a:endParaRPr lang="pt-PT" altLang="pt-PT" sz="1300"/>
          </a:p>
        </p:txBody>
      </p:sp>
    </p:spTree>
    <p:extLst>
      <p:ext uri="{BB962C8B-B14F-4D97-AF65-F5344CB8AC3E}">
        <p14:creationId xmlns:p14="http://schemas.microsoft.com/office/powerpoint/2010/main" val="779656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5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5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6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816" name="Rectangle 289818">
            <a:extLst>
              <a:ext uri="{FF2B5EF4-FFF2-40B4-BE49-F238E27FC236}">
                <a16:creationId xmlns:a16="http://schemas.microsoft.com/office/drawing/2014/main" id="{B1CCD5EF-766D-43B9-A25D-19122E5FB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600" y="643467"/>
            <a:ext cx="8178799" cy="1989682"/>
          </a:xfrm>
          <a:prstGeom prst="rect">
            <a:avLst/>
          </a:prstGeom>
          <a:solidFill>
            <a:schemeClr val="accent1"/>
          </a:solidFill>
          <a:ln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817" name="Rectangle 289820">
            <a:extLst>
              <a:ext uri="{FF2B5EF4-FFF2-40B4-BE49-F238E27FC236}">
                <a16:creationId xmlns:a16="http://schemas.microsoft.com/office/drawing/2014/main" id="{FD9699C9-77F1-4E33-A750-CB78C7EA2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4646" y="806204"/>
            <a:ext cx="7934706" cy="1664208"/>
          </a:xfrm>
          <a:prstGeom prst="rect">
            <a:avLst/>
          </a:prstGeom>
          <a:noFill/>
          <a:ln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814" name="Rectangle 22"/>
          <p:cNvSpPr>
            <a:spLocks noGrp="1" noChangeArrowheads="1"/>
          </p:cNvSpPr>
          <p:nvPr>
            <p:ph type="title"/>
          </p:nvPr>
        </p:nvSpPr>
        <p:spPr>
          <a:xfrm>
            <a:off x="803884" y="1059736"/>
            <a:ext cx="7530175" cy="1228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PT" altLang="pt-PT" sz="4100">
                <a:solidFill>
                  <a:srgbClr val="FFFFFF"/>
                </a:solidFill>
              </a:rPr>
              <a:t>CARACTERÍSTICAS DE UM ALGORITMO </a:t>
            </a:r>
          </a:p>
        </p:txBody>
      </p:sp>
      <p:graphicFrame>
        <p:nvGraphicFramePr>
          <p:cNvPr id="5" name="Tabe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347601"/>
              </p:ext>
            </p:extLst>
          </p:nvPr>
        </p:nvGraphicFramePr>
        <p:xfrm>
          <a:off x="604657" y="3289090"/>
          <a:ext cx="7877175" cy="27527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876550">
                  <a:extLst>
                    <a:ext uri="{9D8B030D-6E8A-4147-A177-3AD203B41FA5}">
                      <a16:colId xmlns:a16="http://schemas.microsoft.com/office/drawing/2014/main" val="2118347729"/>
                    </a:ext>
                  </a:extLst>
                </a:gridCol>
                <a:gridCol w="5000625">
                  <a:extLst>
                    <a:ext uri="{9D8B030D-6E8A-4147-A177-3AD203B41FA5}">
                      <a16:colId xmlns:a16="http://schemas.microsoft.com/office/drawing/2014/main" val="3146788513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Deve ser corretamente definido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 ações a desenvolver devem ser apresentadas de uma forma clara, abrangendo a maior quantidade de informações.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48693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Deve estar isento de ambiguidades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Como resultado de falta de informação ou duplicação desta.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514400"/>
                  </a:ext>
                </a:extLst>
              </a:tr>
              <a:tr h="96202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Deve ser eficaz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Deve resolver o problema, independentemente da situação, de uma forma isenta de erros e de qualquer falha. Se por ventura existirem exceções, estas devem ser devidamente especificadas e tratadas.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22967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Deve ser eficiente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just" fontAlgn="base">
                        <a:buNone/>
                      </a:pPr>
                      <a:r>
                        <a:rPr lang="pt-PT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Deve ter capacidade de resolver o problema com o mínimo de recursos.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28" marR="72028" marT="36014" marB="36014">
                    <a:lnL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58B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1463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8849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56BC9-C5FD-30BA-4063-9A09EF75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120676"/>
            <a:ext cx="3943351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9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PEANUT BUTTER AND JELLY</a:t>
            </a:r>
          </a:p>
        </p:txBody>
      </p:sp>
      <p:pic>
        <p:nvPicPr>
          <p:cNvPr id="6" name="Multimédia Online 5" title="THIS &quot;EXACT INSTRUCTIONS CHALLENGE&quot; IS SO HILARIOUS">
            <a:hlinkClick r:id="" action="ppaction://media"/>
            <a:extLst>
              <a:ext uri="{FF2B5EF4-FFF2-40B4-BE49-F238E27FC236}">
                <a16:creationId xmlns:a16="http://schemas.microsoft.com/office/drawing/2014/main" id="{B839B4D2-3377-2FC9-F04B-28627F0455D9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28649" y="260648"/>
            <a:ext cx="7700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62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0" name="Rectangle 291849">
            <a:extLst>
              <a:ext uri="{FF2B5EF4-FFF2-40B4-BE49-F238E27FC236}">
                <a16:creationId xmlns:a16="http://schemas.microsoft.com/office/drawing/2014/main" id="{68483532-7F25-4B74-B673-F9C5760704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2D8C03-1AFB-A867-2F39-40BB945BC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85066"/>
            <a:ext cx="8192729" cy="1317643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8800">
                <a:solidFill>
                  <a:srgbClr val="FFFFFF"/>
                </a:solidFill>
              </a:rPr>
              <a:t>EXERCÍCIO</a:t>
            </a:r>
          </a:p>
        </p:txBody>
      </p:sp>
      <p:sp>
        <p:nvSpPr>
          <p:cNvPr id="291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5702709"/>
            <a:ext cx="8192728" cy="52110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  <a:defRPr/>
            </a:pPr>
            <a:r>
              <a:rPr lang="en-US" altLang="pt-PT" sz="2200">
                <a:solidFill>
                  <a:srgbClr val="262626"/>
                </a:solidFill>
                <a:latin typeface="+mj-lt"/>
              </a:rPr>
              <a:t>Elabore um algoritmo para substituição de um pneu de um automóvel.</a:t>
            </a:r>
          </a:p>
        </p:txBody>
      </p:sp>
      <p:pic>
        <p:nvPicPr>
          <p:cNvPr id="291845" name="Picture 291844" descr="Tires pintado com vermelho">
            <a:extLst>
              <a:ext uri="{FF2B5EF4-FFF2-40B4-BE49-F238E27FC236}">
                <a16:creationId xmlns:a16="http://schemas.microsoft.com/office/drawing/2014/main" id="{CEDA403F-DB8E-5E52-F9EF-903832CE61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97" r="-2" b="32179"/>
          <a:stretch>
            <a:fillRect/>
          </a:stretch>
        </p:blipFill>
        <p:spPr>
          <a:xfrm>
            <a:off x="476592" y="640080"/>
            <a:ext cx="8187348" cy="36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49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0D9735-F614-240A-84ED-AACA4AD1A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" y="499533"/>
            <a:ext cx="5336382" cy="1658198"/>
          </a:xfrm>
        </p:spPr>
        <p:txBody>
          <a:bodyPr anchor="t">
            <a:normAutofit/>
          </a:bodyPr>
          <a:lstStyle/>
          <a:p>
            <a:r>
              <a:rPr lang="pt-PT"/>
              <a:t>RESOLUÇÃO</a:t>
            </a:r>
          </a:p>
        </p:txBody>
      </p:sp>
      <p:sp>
        <p:nvSpPr>
          <p:cNvPr id="294915" name="Rectangle 3"/>
          <p:cNvSpPr>
            <a:spLocks noGrp="1" noChangeArrowheads="1"/>
          </p:cNvSpPr>
          <p:nvPr>
            <p:ph idx="1"/>
          </p:nvPr>
        </p:nvSpPr>
        <p:spPr>
          <a:xfrm>
            <a:off x="507492" y="2011680"/>
            <a:ext cx="5157812" cy="376618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Abrir a bagageira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Retirar o pneu suplente e o macaco</a:t>
            </a:r>
            <a:endParaRPr lang="pt-PT" altLang="pt-PT" sz="1000">
              <a:cs typeface="Calibri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Colocar o macaco na posição adequada</a:t>
            </a:r>
            <a:endParaRPr lang="pt-PT" altLang="pt-PT" sz="1000">
              <a:cs typeface="Calibri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Levantar o carro</a:t>
            </a:r>
            <a:endParaRPr lang="pt-PT" altLang="pt-PT" sz="1000">
              <a:cs typeface="Calibri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Retirar os parafusos do pneu</a:t>
            </a:r>
            <a:endParaRPr lang="pt-PT" altLang="pt-PT" sz="1000">
              <a:cs typeface="Calibri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Retirar o pneu furado</a:t>
            </a:r>
            <a:endParaRPr lang="pt-PT" altLang="pt-PT" sz="1000">
              <a:cs typeface="Calibri"/>
            </a:endParaRPr>
          </a:p>
          <a:p>
            <a:pPr marL="457200" indent="-457200">
              <a:buFont typeface="+mj-lt"/>
              <a:buAutoNum type="arabicPeriod"/>
              <a:defRPr/>
            </a:pPr>
            <a:r>
              <a:rPr lang="pt-PT" altLang="pt-PT" sz="1000"/>
              <a:t>Colocar o novo pneu </a:t>
            </a:r>
            <a:endParaRPr lang="pt-PT" altLang="pt-PT" sz="1000">
              <a:cs typeface="Calibri"/>
            </a:endParaRPr>
          </a:p>
          <a:p>
            <a:pPr marL="457200" indent="-457200">
              <a:buAutoNum type="arabicPeriod"/>
              <a:defRPr/>
            </a:pPr>
            <a:r>
              <a:rPr lang="pt-PT" sz="1000"/>
              <a:t>Baixar o macaco</a:t>
            </a:r>
            <a:endParaRPr lang="en-US" sz="1000"/>
          </a:p>
          <a:p>
            <a:pPr marL="457200" indent="-457200">
              <a:buAutoNum type="arabicPeriod"/>
              <a:defRPr/>
            </a:pPr>
            <a:r>
              <a:rPr lang="pt-PT" sz="1000"/>
              <a:t>Apertar os parafusos</a:t>
            </a:r>
            <a:endParaRPr lang="en-US" sz="1000">
              <a:cs typeface="Calibri"/>
            </a:endParaRPr>
          </a:p>
          <a:p>
            <a:pPr marL="457200" indent="-457200">
              <a:buAutoNum type="arabicPeriod"/>
              <a:defRPr/>
            </a:pPr>
            <a:r>
              <a:rPr lang="pt-PT" altLang="pt-PT" sz="1000"/>
              <a:t>Retirar o macaco do carro</a:t>
            </a:r>
            <a:endParaRPr lang="pt-PT" sz="1000"/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Arrumar o macaco</a:t>
            </a:r>
            <a:endParaRPr lang="pt-PT" altLang="pt-PT" sz="1000">
              <a:cs typeface="Calibri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Arrumar o pneu furado</a:t>
            </a:r>
            <a:endParaRPr lang="pt-PT" altLang="pt-PT" sz="1000">
              <a:cs typeface="Calibri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pt-PT" altLang="pt-PT" sz="1000"/>
              <a:t>Fechar a bagageira</a:t>
            </a:r>
            <a:endParaRPr lang="pt-PT" altLang="pt-PT" sz="1000">
              <a:cs typeface="Calibri"/>
            </a:endParaRPr>
          </a:p>
        </p:txBody>
      </p:sp>
      <p:pic>
        <p:nvPicPr>
          <p:cNvPr id="294928" name="Picture 294916" descr="Tires pintado com vermelho">
            <a:extLst>
              <a:ext uri="{FF2B5EF4-FFF2-40B4-BE49-F238E27FC236}">
                <a16:creationId xmlns:a16="http://schemas.microsoft.com/office/drawing/2014/main" id="{2A3FA2EA-3949-01F2-094E-5BAF7BB7B2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233" r="31029" b="-2"/>
          <a:stretch>
            <a:fillRect/>
          </a:stretch>
        </p:blipFill>
        <p:spPr>
          <a:xfrm>
            <a:off x="6085902" y="10"/>
            <a:ext cx="3058098" cy="686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26511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0941A018-FB9B-4401-A32C-7E04526866E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A1838B29BE400418F64012B09F26F25" ma:contentTypeVersion="3" ma:contentTypeDescription="Criar um novo documento." ma:contentTypeScope="" ma:versionID="3ac07e79369edef41cfbd4fd28f59b6b">
  <xsd:schema xmlns:xsd="http://www.w3.org/2001/XMLSchema" xmlns:xs="http://www.w3.org/2001/XMLSchema" xmlns:p="http://schemas.microsoft.com/office/2006/metadata/properties" xmlns:ns2="173d77ef-034d-4373-8d2e-474a77ea109d" targetNamespace="http://schemas.microsoft.com/office/2006/metadata/properties" ma:root="true" ma:fieldsID="cf9cf6ea52323ab86580d65a994018f2" ns2:_="">
    <xsd:import namespace="173d77ef-034d-4373-8d2e-474a77ea10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d77ef-034d-4373-8d2e-474a77ea10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50629A-60DB-4860-944F-9623DF57E63A}">
  <ds:schemaRefs>
    <ds:schemaRef ds:uri="http://schemas.microsoft.com/office/2006/metadata/properties"/>
    <ds:schemaRef ds:uri="http://schemas.microsoft.com/office/infopath/2007/PartnerControls"/>
    <ds:schemaRef ds:uri="a00e5186-3ee1-4f03-a7d6-66b69971da24"/>
    <ds:schemaRef ds:uri="f40a1378-073b-4b98-b63d-f4c0e38f7637"/>
    <ds:schemaRef ds:uri="6dc146b9-e496-4eef-b264-00e0b6f7815b"/>
    <ds:schemaRef ds:uri="334802ed-a461-4ae4-8ec9-509cf736257c"/>
    <ds:schemaRef ds:uri="b9929b85-74bd-4e25-bb07-f469df70cd08"/>
  </ds:schemaRefs>
</ds:datastoreItem>
</file>

<file path=customXml/itemProps2.xml><?xml version="1.0" encoding="utf-8"?>
<ds:datastoreItem xmlns:ds="http://schemas.openxmlformats.org/officeDocument/2006/customXml" ds:itemID="{BBE814C6-B57E-48B0-81B0-8D87EF3CA4C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F76CC08-3EDF-4E82-82F8-7BD49E187AEF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1135</Words>
  <Application>Microsoft Office PowerPoint</Application>
  <PresentationFormat>Apresentação no Ecrã (4:3)</PresentationFormat>
  <Paragraphs>128</Paragraphs>
  <Slides>34</Slides>
  <Notes>0</Notes>
  <HiddenSlides>0</HiddenSlides>
  <MMClips>1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34</vt:i4>
      </vt:variant>
    </vt:vector>
  </HeadingPairs>
  <TitlesOfParts>
    <vt:vector size="35" baseType="lpstr">
      <vt:lpstr>Metropolitan</vt:lpstr>
      <vt:lpstr>UC 00245 – Desenvolver algoritmos </vt:lpstr>
      <vt:lpstr>LINGUAGEM?</vt:lpstr>
      <vt:lpstr>O QUE É UMA LINGUAGEM?</vt:lpstr>
      <vt:lpstr>LINGUAGEM VERBAL</vt:lpstr>
      <vt:lpstr>LINGUAGEM NÃO VERBAL</vt:lpstr>
      <vt:lpstr>LINGUAGEM MISTA</vt:lpstr>
      <vt:lpstr>LINGUAGENS NATURAIS </vt:lpstr>
      <vt:lpstr>LINGUAGEM FORMAL</vt:lpstr>
      <vt:lpstr>DIFERENÇAS DA LINGUAGEM NATURAL  E FORMAL </vt:lpstr>
      <vt:lpstr>DIFERENÇAS DA LINGUAGEM NATURAL  E FORMAL </vt:lpstr>
      <vt:lpstr>DIFERENÇAS DA LINGUAGEM NATURAL  E FORMAL </vt:lpstr>
      <vt:lpstr>O QUE É UMA LINGUAGEM DE PROGRAMAÇÃO?</vt:lpstr>
      <vt:lpstr>PROGRAMA</vt:lpstr>
      <vt:lpstr>Tipos de Programas</vt:lpstr>
      <vt:lpstr>LINGUAGEM DE PROGRAMAÇÃO</vt:lpstr>
      <vt:lpstr>SEMÂNTICA</vt:lpstr>
      <vt:lpstr>SINTAXE</vt:lpstr>
      <vt:lpstr>FASES DA PROGRAMAÇÃO</vt:lpstr>
      <vt:lpstr>DEFINIÇÃO DO PROBLEMA</vt:lpstr>
      <vt:lpstr>PLANIFICAÇÃO DA RESOLUÇÃO</vt:lpstr>
      <vt:lpstr>CODIFICAÇÃO</vt:lpstr>
      <vt:lpstr>TESTES</vt:lpstr>
      <vt:lpstr>DOCUMENTAÇÃO</vt:lpstr>
      <vt:lpstr>MANUTENÇÃO</vt:lpstr>
      <vt:lpstr>ALGORITMO EM FLUXOGRAMA</vt:lpstr>
      <vt:lpstr>SUBSTITUIÇÃO DE UMA LÂMPADA FUNDIDA</vt:lpstr>
      <vt:lpstr>SUBSTITUIÇÃO DE UMA LÂMPADA FUNDIDA</vt:lpstr>
      <vt:lpstr>SUBSTITUIÇÃO DE UMA LÂMPADA FUNDIDA</vt:lpstr>
      <vt:lpstr>SUBSTITUIÇÃO DE UMA LÂMPADA FUNDIDA</vt:lpstr>
      <vt:lpstr>SUBSTITUIÇÃO DE UMA LÂMPADA FUNDIDA</vt:lpstr>
      <vt:lpstr>CARACTERÍSTICAS DE UM ALGORITMO </vt:lpstr>
      <vt:lpstr>PEANUT BUTTER AND JELLY</vt:lpstr>
      <vt:lpstr>EXERCÍCIO</vt:lpstr>
      <vt:lpstr>RESOLUÇÃO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/>
  <cp:lastModifiedBy/>
  <cp:revision>254</cp:revision>
  <dcterms:created xsi:type="dcterms:W3CDTF">2016-10-28T15:18:04Z</dcterms:created>
  <dcterms:modified xsi:type="dcterms:W3CDTF">2026-09-15T20:21:37Z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0x010100EA1838B29BE400418F64012B09F26F25</vt:lpwstr>
  </property>
  <property fmtid="{D5CDD505-2E9C-101B-9397-08002B2CF9AE}" pid="3" name="MediaServiceImageTags">
    <vt:lpwstr/>
  </property>
  <property fmtid="{D5CDD505-2E9C-101B-9397-08002B2CF9AE}" pid="4" name="Order">
    <vt:r8>800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